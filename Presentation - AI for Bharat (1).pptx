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Work Sans Semi-Bold" charset="1" panose="00000000000000000000"/>
      <p:regular r:id="rId14"/>
    </p:embeddedFont>
    <p:embeddedFont>
      <p:font typeface="Work Sans" charset="1" panose="00000000000000000000"/>
      <p:regular r:id="rId15"/>
    </p:embeddedFont>
    <p:embeddedFont>
      <p:font typeface="Work Sans Bold"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686050"/>
            <a:chOff x="0" y="0"/>
            <a:chExt cx="4987154" cy="790100"/>
          </a:xfrm>
        </p:grpSpPr>
        <p:sp>
          <p:nvSpPr>
            <p:cNvPr name="Freeform 3" id="3"/>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A6CEE3"/>
            </a:solidFill>
          </p:spPr>
        </p:sp>
      </p:grpSp>
      <p:grpSp>
        <p:nvGrpSpPr>
          <p:cNvPr name="Group 4" id="4"/>
          <p:cNvGrpSpPr/>
          <p:nvPr/>
        </p:nvGrpSpPr>
        <p:grpSpPr>
          <a:xfrm rot="0">
            <a:off x="10734675" y="7834471"/>
            <a:ext cx="6886575" cy="1785779"/>
            <a:chOff x="0" y="0"/>
            <a:chExt cx="1813748" cy="470329"/>
          </a:xfrm>
        </p:grpSpPr>
        <p:sp>
          <p:nvSpPr>
            <p:cNvPr name="Freeform 5" id="5"/>
            <p:cNvSpPr/>
            <p:nvPr/>
          </p:nvSpPr>
          <p:spPr>
            <a:xfrm flipH="false" flipV="false" rot="0">
              <a:off x="0" y="0"/>
              <a:ext cx="1813748" cy="470329"/>
            </a:xfrm>
            <a:custGeom>
              <a:avLst/>
              <a:gdLst/>
              <a:ahLst/>
              <a:cxnLst/>
              <a:rect r="r" b="b" t="t" l="l"/>
              <a:pathLst>
                <a:path h="470329" w="1813748">
                  <a:moveTo>
                    <a:pt x="44968" y="0"/>
                  </a:moveTo>
                  <a:lnTo>
                    <a:pt x="1768780" y="0"/>
                  </a:lnTo>
                  <a:cubicBezTo>
                    <a:pt x="1780706" y="0"/>
                    <a:pt x="1792144" y="4738"/>
                    <a:pt x="1800577" y="13171"/>
                  </a:cubicBezTo>
                  <a:cubicBezTo>
                    <a:pt x="1809011" y="21604"/>
                    <a:pt x="1813748" y="33042"/>
                    <a:pt x="1813748" y="44968"/>
                  </a:cubicBezTo>
                  <a:lnTo>
                    <a:pt x="1813748" y="425360"/>
                  </a:lnTo>
                  <a:cubicBezTo>
                    <a:pt x="1813748" y="437287"/>
                    <a:pt x="1809011" y="448724"/>
                    <a:pt x="1800577" y="457158"/>
                  </a:cubicBezTo>
                  <a:cubicBezTo>
                    <a:pt x="1792144" y="465591"/>
                    <a:pt x="1780706" y="470329"/>
                    <a:pt x="1768780" y="470329"/>
                  </a:cubicBezTo>
                  <a:lnTo>
                    <a:pt x="44968" y="470329"/>
                  </a:lnTo>
                  <a:cubicBezTo>
                    <a:pt x="33042" y="470329"/>
                    <a:pt x="21604" y="465591"/>
                    <a:pt x="13171" y="457158"/>
                  </a:cubicBezTo>
                  <a:cubicBezTo>
                    <a:pt x="4738" y="448724"/>
                    <a:pt x="0" y="437287"/>
                    <a:pt x="0" y="425360"/>
                  </a:cubicBezTo>
                  <a:lnTo>
                    <a:pt x="0" y="44968"/>
                  </a:lnTo>
                  <a:cubicBezTo>
                    <a:pt x="0" y="33042"/>
                    <a:pt x="4738" y="21604"/>
                    <a:pt x="13171" y="13171"/>
                  </a:cubicBezTo>
                  <a:cubicBezTo>
                    <a:pt x="21604" y="4738"/>
                    <a:pt x="33042" y="0"/>
                    <a:pt x="44968" y="0"/>
                  </a:cubicBezTo>
                  <a:close/>
                </a:path>
              </a:pathLst>
            </a:custGeom>
            <a:solidFill>
              <a:srgbClr val="A6CEE3"/>
            </a:solidFill>
          </p:spPr>
        </p:sp>
        <p:sp>
          <p:nvSpPr>
            <p:cNvPr name="TextBox 6" id="6"/>
            <p:cNvSpPr txBox="true"/>
            <p:nvPr/>
          </p:nvSpPr>
          <p:spPr>
            <a:xfrm>
              <a:off x="0" y="-57150"/>
              <a:ext cx="1813748" cy="527479"/>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0734675" y="3657600"/>
            <a:ext cx="6886575" cy="3872071"/>
            <a:chOff x="0" y="0"/>
            <a:chExt cx="1066911" cy="599885"/>
          </a:xfrm>
        </p:grpSpPr>
        <p:sp>
          <p:nvSpPr>
            <p:cNvPr name="Freeform 8" id="8"/>
            <p:cNvSpPr/>
            <p:nvPr/>
          </p:nvSpPr>
          <p:spPr>
            <a:xfrm flipH="false" flipV="false" rot="0">
              <a:off x="0" y="0"/>
              <a:ext cx="1066911" cy="599885"/>
            </a:xfrm>
            <a:custGeom>
              <a:avLst/>
              <a:gdLst/>
              <a:ahLst/>
              <a:cxnLst/>
              <a:rect r="r" b="b" t="t" l="l"/>
              <a:pathLst>
                <a:path h="599885" w="1066911">
                  <a:moveTo>
                    <a:pt x="44968" y="0"/>
                  </a:moveTo>
                  <a:lnTo>
                    <a:pt x="1021942" y="0"/>
                  </a:lnTo>
                  <a:cubicBezTo>
                    <a:pt x="1033869" y="0"/>
                    <a:pt x="1045307" y="4738"/>
                    <a:pt x="1053740" y="13171"/>
                  </a:cubicBezTo>
                  <a:cubicBezTo>
                    <a:pt x="1062173" y="21604"/>
                    <a:pt x="1066911" y="33042"/>
                    <a:pt x="1066911" y="44968"/>
                  </a:cubicBezTo>
                  <a:lnTo>
                    <a:pt x="1066911" y="554917"/>
                  </a:lnTo>
                  <a:cubicBezTo>
                    <a:pt x="1066911" y="566843"/>
                    <a:pt x="1062173" y="578281"/>
                    <a:pt x="1053740" y="586714"/>
                  </a:cubicBezTo>
                  <a:cubicBezTo>
                    <a:pt x="1045307" y="595147"/>
                    <a:pt x="1033869" y="599885"/>
                    <a:pt x="1021942" y="599885"/>
                  </a:cubicBezTo>
                  <a:lnTo>
                    <a:pt x="44968" y="599885"/>
                  </a:lnTo>
                  <a:cubicBezTo>
                    <a:pt x="33042" y="599885"/>
                    <a:pt x="21604" y="595147"/>
                    <a:pt x="13171" y="586714"/>
                  </a:cubicBezTo>
                  <a:cubicBezTo>
                    <a:pt x="4738" y="578281"/>
                    <a:pt x="0" y="566843"/>
                    <a:pt x="0" y="554917"/>
                  </a:cubicBezTo>
                  <a:lnTo>
                    <a:pt x="0" y="44968"/>
                  </a:lnTo>
                  <a:cubicBezTo>
                    <a:pt x="0" y="33042"/>
                    <a:pt x="4738" y="21604"/>
                    <a:pt x="13171" y="13171"/>
                  </a:cubicBezTo>
                  <a:cubicBezTo>
                    <a:pt x="21604" y="4738"/>
                    <a:pt x="33042" y="0"/>
                    <a:pt x="44968" y="0"/>
                  </a:cubicBezTo>
                  <a:close/>
                </a:path>
              </a:pathLst>
            </a:custGeom>
            <a:blipFill>
              <a:blip r:embed="rId2"/>
              <a:stretch>
                <a:fillRect l="-202" t="0" r="-202" b="0"/>
              </a:stretch>
            </a:blipFill>
          </p:spPr>
        </p:sp>
      </p:grpSp>
      <p:grpSp>
        <p:nvGrpSpPr>
          <p:cNvPr name="Group 9" id="9"/>
          <p:cNvGrpSpPr/>
          <p:nvPr/>
        </p:nvGrpSpPr>
        <p:grpSpPr>
          <a:xfrm rot="0">
            <a:off x="666750" y="3657600"/>
            <a:ext cx="9763125" cy="5962650"/>
            <a:chOff x="0" y="0"/>
            <a:chExt cx="4083676" cy="2494030"/>
          </a:xfrm>
        </p:grpSpPr>
        <p:sp>
          <p:nvSpPr>
            <p:cNvPr name="Freeform 10" id="10"/>
            <p:cNvSpPr/>
            <p:nvPr/>
          </p:nvSpPr>
          <p:spPr>
            <a:xfrm flipH="false" flipV="false" rot="0">
              <a:off x="54483" y="50038"/>
              <a:ext cx="3974583" cy="2394589"/>
            </a:xfrm>
            <a:custGeom>
              <a:avLst/>
              <a:gdLst/>
              <a:ahLst/>
              <a:cxnLst/>
              <a:rect r="r" b="b" t="t" l="l"/>
              <a:pathLst>
                <a:path h="2394589" w="3974583">
                  <a:moveTo>
                    <a:pt x="3886953" y="2394589"/>
                  </a:moveTo>
                  <a:lnTo>
                    <a:pt x="87757" y="2394589"/>
                  </a:lnTo>
                  <a:cubicBezTo>
                    <a:pt x="39370" y="2394589"/>
                    <a:pt x="0" y="2355346"/>
                    <a:pt x="0" y="2306832"/>
                  </a:cubicBezTo>
                  <a:lnTo>
                    <a:pt x="0" y="87757"/>
                  </a:lnTo>
                  <a:cubicBezTo>
                    <a:pt x="0" y="39370"/>
                    <a:pt x="39243" y="0"/>
                    <a:pt x="87757" y="0"/>
                  </a:cubicBezTo>
                  <a:lnTo>
                    <a:pt x="3886826" y="0"/>
                  </a:lnTo>
                  <a:cubicBezTo>
                    <a:pt x="3935213" y="0"/>
                    <a:pt x="3974583" y="39243"/>
                    <a:pt x="3974583" y="87757"/>
                  </a:cubicBezTo>
                  <a:lnTo>
                    <a:pt x="3974583" y="2306832"/>
                  </a:lnTo>
                  <a:cubicBezTo>
                    <a:pt x="3974583" y="2355219"/>
                    <a:pt x="3935340" y="2394589"/>
                    <a:pt x="3886826" y="2394589"/>
                  </a:cubicBezTo>
                  <a:close/>
                </a:path>
              </a:pathLst>
            </a:custGeom>
            <a:blipFill>
              <a:blip r:embed="rId3"/>
              <a:stretch>
                <a:fillRect l="0" t="-209" r="0" b="-209"/>
              </a:stretch>
            </a:blipFill>
          </p:spPr>
        </p:sp>
        <p:sp>
          <p:nvSpPr>
            <p:cNvPr name="Freeform 11" id="11"/>
            <p:cNvSpPr/>
            <p:nvPr/>
          </p:nvSpPr>
          <p:spPr>
            <a:xfrm flipH="false" flipV="false" rot="0">
              <a:off x="0" y="0"/>
              <a:ext cx="4083549" cy="2493903"/>
            </a:xfrm>
            <a:custGeom>
              <a:avLst/>
              <a:gdLst/>
              <a:ahLst/>
              <a:cxnLst/>
              <a:rect r="r" b="b" t="t" l="l"/>
              <a:pathLst>
                <a:path h="2493903" w="4083549">
                  <a:moveTo>
                    <a:pt x="0" y="91567"/>
                  </a:moveTo>
                  <a:lnTo>
                    <a:pt x="0" y="2402337"/>
                  </a:lnTo>
                  <a:cubicBezTo>
                    <a:pt x="0" y="2452882"/>
                    <a:pt x="41021" y="2493903"/>
                    <a:pt x="91567" y="2493903"/>
                  </a:cubicBezTo>
                  <a:lnTo>
                    <a:pt x="3991982" y="2493903"/>
                  </a:lnTo>
                  <a:cubicBezTo>
                    <a:pt x="4042528" y="2493903"/>
                    <a:pt x="4083549" y="2452882"/>
                    <a:pt x="4083549" y="2402337"/>
                  </a:cubicBezTo>
                  <a:lnTo>
                    <a:pt x="4083549" y="91567"/>
                  </a:lnTo>
                  <a:cubicBezTo>
                    <a:pt x="4083549" y="41021"/>
                    <a:pt x="4042528" y="0"/>
                    <a:pt x="3991982" y="0"/>
                  </a:cubicBezTo>
                  <a:lnTo>
                    <a:pt x="91567" y="0"/>
                  </a:lnTo>
                  <a:cubicBezTo>
                    <a:pt x="41021" y="0"/>
                    <a:pt x="0" y="41021"/>
                    <a:pt x="0" y="91567"/>
                  </a:cubicBezTo>
                  <a:close/>
                  <a:moveTo>
                    <a:pt x="3241793" y="331724"/>
                  </a:moveTo>
                  <a:lnTo>
                    <a:pt x="3900923" y="331724"/>
                  </a:lnTo>
                  <a:cubicBezTo>
                    <a:pt x="3951469" y="331724"/>
                    <a:pt x="3992490" y="372745"/>
                    <a:pt x="3992490" y="423291"/>
                  </a:cubicBezTo>
                  <a:lnTo>
                    <a:pt x="3992490" y="2311277"/>
                  </a:lnTo>
                  <a:cubicBezTo>
                    <a:pt x="3992490" y="2361823"/>
                    <a:pt x="3951469" y="2402844"/>
                    <a:pt x="3900923" y="2402844"/>
                  </a:cubicBezTo>
                  <a:lnTo>
                    <a:pt x="182753" y="2402844"/>
                  </a:lnTo>
                  <a:cubicBezTo>
                    <a:pt x="132207" y="2402844"/>
                    <a:pt x="91186" y="2361823"/>
                    <a:pt x="91186" y="2311277"/>
                  </a:cubicBezTo>
                  <a:lnTo>
                    <a:pt x="91186" y="182753"/>
                  </a:lnTo>
                  <a:cubicBezTo>
                    <a:pt x="91186" y="132207"/>
                    <a:pt x="132207" y="91186"/>
                    <a:pt x="182753" y="91186"/>
                  </a:cubicBezTo>
                  <a:lnTo>
                    <a:pt x="2944740" y="91186"/>
                  </a:lnTo>
                  <a:cubicBezTo>
                    <a:pt x="2970775" y="91186"/>
                    <a:pt x="2995667" y="102235"/>
                    <a:pt x="3013066" y="121666"/>
                  </a:cubicBezTo>
                  <a:lnTo>
                    <a:pt x="3173721" y="301244"/>
                  </a:lnTo>
                  <a:cubicBezTo>
                    <a:pt x="3191120" y="320675"/>
                    <a:pt x="3215885" y="331724"/>
                    <a:pt x="3242047" y="331724"/>
                  </a:cubicBezTo>
                  <a:lnTo>
                    <a:pt x="3241793" y="331724"/>
                  </a:lnTo>
                  <a:close/>
                </a:path>
              </a:pathLst>
            </a:custGeom>
            <a:solidFill>
              <a:srgbClr val="2A2A2A"/>
            </a:solidFill>
          </p:spPr>
        </p:sp>
      </p:grpSp>
      <p:sp>
        <p:nvSpPr>
          <p:cNvPr name="Freeform 12" id="12"/>
          <p:cNvSpPr/>
          <p:nvPr/>
        </p:nvSpPr>
        <p:spPr>
          <a:xfrm flipH="false" flipV="false" rot="0">
            <a:off x="15220953" y="1376364"/>
            <a:ext cx="1266822" cy="1266822"/>
          </a:xfrm>
          <a:custGeom>
            <a:avLst/>
            <a:gdLst/>
            <a:ahLst/>
            <a:cxnLst/>
            <a:rect r="r" b="b" t="t" l="l"/>
            <a:pathLst>
              <a:path h="1266822" w="1266822">
                <a:moveTo>
                  <a:pt x="0" y="0"/>
                </a:moveTo>
                <a:lnTo>
                  <a:pt x="1266822" y="0"/>
                </a:lnTo>
                <a:lnTo>
                  <a:pt x="1266822" y="1266822"/>
                </a:lnTo>
                <a:lnTo>
                  <a:pt x="0" y="1266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320434" y="1570221"/>
            <a:ext cx="13424266" cy="1035051"/>
          </a:xfrm>
          <a:prstGeom prst="rect">
            <a:avLst/>
          </a:prstGeom>
        </p:spPr>
        <p:txBody>
          <a:bodyPr anchor="t" rtlCol="false" tIns="0" lIns="0" bIns="0" rIns="0">
            <a:spAutoFit/>
          </a:bodyPr>
          <a:lstStyle/>
          <a:p>
            <a:pPr algn="l" marL="0" indent="0" lvl="0">
              <a:lnSpc>
                <a:spcPts val="7600"/>
              </a:lnSpc>
            </a:pPr>
            <a:r>
              <a:rPr lang="en-US" b="true" sz="8000" spc="-440">
                <a:solidFill>
                  <a:srgbClr val="2A2A2A"/>
                </a:solidFill>
                <a:latin typeface="Work Sans Semi-Bold"/>
                <a:ea typeface="Work Sans Semi-Bold"/>
                <a:cs typeface="Work Sans Semi-Bold"/>
                <a:sym typeface="Work Sans Semi-Bold"/>
              </a:rPr>
              <a:t>AI for Bharat</a:t>
            </a:r>
          </a:p>
        </p:txBody>
      </p:sp>
      <p:grpSp>
        <p:nvGrpSpPr>
          <p:cNvPr name="Group 14" id="14"/>
          <p:cNvGrpSpPr/>
          <p:nvPr/>
        </p:nvGrpSpPr>
        <p:grpSpPr>
          <a:xfrm rot="0">
            <a:off x="11388359" y="8167816"/>
            <a:ext cx="5603210" cy="999890"/>
            <a:chOff x="0" y="0"/>
            <a:chExt cx="7470947" cy="1333187"/>
          </a:xfrm>
        </p:grpSpPr>
        <p:sp>
          <p:nvSpPr>
            <p:cNvPr name="TextBox 15" id="15"/>
            <p:cNvSpPr txBox="true"/>
            <p:nvPr/>
          </p:nvSpPr>
          <p:spPr>
            <a:xfrm rot="0">
              <a:off x="0" y="-47625"/>
              <a:ext cx="7470947" cy="657225"/>
            </a:xfrm>
            <a:prstGeom prst="rect">
              <a:avLst/>
            </a:prstGeom>
          </p:spPr>
          <p:txBody>
            <a:bodyPr anchor="t" rtlCol="false" tIns="0" lIns="0" bIns="0" rIns="0">
              <a:spAutoFit/>
            </a:bodyPr>
            <a:lstStyle/>
            <a:p>
              <a:pPr algn="l" marL="0" indent="0" lvl="0">
                <a:lnSpc>
                  <a:spcPts val="3900"/>
                </a:lnSpc>
              </a:pPr>
              <a:r>
                <a:rPr lang="en-US" b="true" sz="3000" spc="-165">
                  <a:solidFill>
                    <a:srgbClr val="2A2A2A"/>
                  </a:solidFill>
                  <a:latin typeface="Work Sans Semi-Bold"/>
                  <a:ea typeface="Work Sans Semi-Bold"/>
                  <a:cs typeface="Work Sans Semi-Bold"/>
                  <a:sym typeface="Work Sans Semi-Bold"/>
                </a:rPr>
                <a:t>Presented by</a:t>
              </a:r>
            </a:p>
          </p:txBody>
        </p:sp>
        <p:sp>
          <p:nvSpPr>
            <p:cNvPr name="TextBox 16" id="16"/>
            <p:cNvSpPr txBox="true"/>
            <p:nvPr/>
          </p:nvSpPr>
          <p:spPr>
            <a:xfrm rot="0">
              <a:off x="0" y="675962"/>
              <a:ext cx="7470947" cy="657225"/>
            </a:xfrm>
            <a:prstGeom prst="rect">
              <a:avLst/>
            </a:prstGeom>
          </p:spPr>
          <p:txBody>
            <a:bodyPr anchor="t" rtlCol="false" tIns="0" lIns="0" bIns="0" rIns="0">
              <a:spAutoFit/>
            </a:bodyPr>
            <a:lstStyle/>
            <a:p>
              <a:pPr algn="l" marL="0" indent="0" lvl="0">
                <a:lnSpc>
                  <a:spcPts val="3900"/>
                </a:lnSpc>
              </a:pPr>
              <a:r>
                <a:rPr lang="en-US" sz="3000" spc="-165">
                  <a:solidFill>
                    <a:srgbClr val="2A2A2A"/>
                  </a:solidFill>
                  <a:latin typeface="Work Sans"/>
                  <a:ea typeface="Work Sans"/>
                  <a:cs typeface="Work Sans"/>
                  <a:sym typeface="Work Sans"/>
                </a:rPr>
                <a:t>Himanshu Sardana</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close/>
                </a:path>
              </a:pathLst>
            </a:custGeom>
            <a:solidFill>
              <a:srgbClr val="A6CEE3"/>
            </a:solidFill>
          </p:spPr>
        </p:sp>
      </p:grpSp>
      <p:grpSp>
        <p:nvGrpSpPr>
          <p:cNvPr name="Group 4" id="4"/>
          <p:cNvGrpSpPr/>
          <p:nvPr/>
        </p:nvGrpSpPr>
        <p:grpSpPr>
          <a:xfrm rot="0">
            <a:off x="2105025" y="1562100"/>
            <a:ext cx="12639675" cy="3462745"/>
            <a:chOff x="0" y="0"/>
            <a:chExt cx="16852900" cy="4616993"/>
          </a:xfrm>
        </p:grpSpPr>
        <p:sp>
          <p:nvSpPr>
            <p:cNvPr name="TextBox 5" id="5"/>
            <p:cNvSpPr txBox="true"/>
            <p:nvPr/>
          </p:nvSpPr>
          <p:spPr>
            <a:xfrm rot="0">
              <a:off x="0" y="133350"/>
              <a:ext cx="168529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2A2A2A"/>
                  </a:solidFill>
                  <a:latin typeface="Work Sans Semi-Bold"/>
                  <a:ea typeface="Work Sans Semi-Bold"/>
                  <a:cs typeface="Work Sans Semi-Bold"/>
                  <a:sym typeface="Work Sans Semi-Bold"/>
                </a:rPr>
                <a:t>Problem Statement</a:t>
              </a:r>
            </a:p>
          </p:txBody>
        </p:sp>
        <p:sp>
          <p:nvSpPr>
            <p:cNvPr name="TextBox 6" id="6"/>
            <p:cNvSpPr txBox="true"/>
            <p:nvPr/>
          </p:nvSpPr>
          <p:spPr>
            <a:xfrm rot="0">
              <a:off x="0" y="1755253"/>
              <a:ext cx="16852900" cy="628650"/>
            </a:xfrm>
            <a:prstGeom prst="rect">
              <a:avLst/>
            </a:prstGeom>
          </p:spPr>
          <p:txBody>
            <a:bodyPr anchor="t" rtlCol="false" tIns="0" lIns="0" bIns="0" rIns="0">
              <a:spAutoFit/>
            </a:bodyPr>
            <a:lstStyle/>
            <a:p>
              <a:pPr algn="l" marL="0" indent="0" lvl="0">
                <a:lnSpc>
                  <a:spcPts val="3600"/>
                </a:lnSpc>
                <a:spcBef>
                  <a:spcPct val="0"/>
                </a:spcBef>
              </a:pPr>
              <a:r>
                <a:rPr lang="en-US" b="true" sz="3000" spc="-165" strike="noStrike" u="none">
                  <a:solidFill>
                    <a:srgbClr val="606060"/>
                  </a:solidFill>
                  <a:latin typeface="Work Sans Semi-Bold"/>
                  <a:ea typeface="Work Sans Semi-Bold"/>
                  <a:cs typeface="Work Sans Semi-Bold"/>
                  <a:sym typeface="Work Sans Semi-Bold"/>
                </a:rPr>
                <a:t>Addressing AI Adoption Gaps in Bharat</a:t>
              </a:r>
            </a:p>
          </p:txBody>
        </p:sp>
        <p:sp>
          <p:nvSpPr>
            <p:cNvPr name="TextBox 7" id="7"/>
            <p:cNvSpPr txBox="true"/>
            <p:nvPr/>
          </p:nvSpPr>
          <p:spPr>
            <a:xfrm rot="0">
              <a:off x="0" y="3252378"/>
              <a:ext cx="11506200" cy="1364615"/>
            </a:xfrm>
            <a:prstGeom prst="rect">
              <a:avLst/>
            </a:prstGeom>
          </p:spPr>
          <p:txBody>
            <a:bodyPr anchor="t" rtlCol="false" tIns="0" lIns="0" bIns="0" rIns="0">
              <a:spAutoFit/>
            </a:bodyPr>
            <a:lstStyle/>
            <a:p>
              <a:pPr algn="l" marL="0" indent="0" lvl="0">
                <a:lnSpc>
                  <a:spcPts val="2730"/>
                </a:lnSpc>
              </a:pPr>
              <a:r>
                <a:rPr lang="en-US" sz="2100" spc="-115">
                  <a:solidFill>
                    <a:srgbClr val="2A2A2A"/>
                  </a:solidFill>
                  <a:latin typeface="Work Sans"/>
                  <a:ea typeface="Work Sans"/>
                  <a:cs typeface="Work Sans"/>
                  <a:sym typeface="Work Sans"/>
                </a:rPr>
                <a:t>India faces significant challenges in </a:t>
              </a:r>
              <a:r>
                <a:rPr lang="en-US" b="true" sz="2100" spc="-115">
                  <a:solidFill>
                    <a:srgbClr val="2A2A2A"/>
                  </a:solidFill>
                  <a:latin typeface="Work Sans Bold"/>
                  <a:ea typeface="Work Sans Bold"/>
                  <a:cs typeface="Work Sans Bold"/>
                  <a:sym typeface="Work Sans Bold"/>
                </a:rPr>
                <a:t>AI adoption</a:t>
              </a:r>
              <a:r>
                <a:rPr lang="en-US" sz="2100" spc="-115">
                  <a:solidFill>
                    <a:srgbClr val="2A2A2A"/>
                  </a:solidFill>
                  <a:latin typeface="Work Sans"/>
                  <a:ea typeface="Work Sans"/>
                  <a:cs typeface="Work Sans"/>
                  <a:sym typeface="Work Sans"/>
                </a:rPr>
                <a:t>, including language barriers and limited digital literacy. A multilingual AI assistant can bridge these gaps and empower underserved communities.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666750" y="3657600"/>
            <a:ext cx="8324850" cy="2828925"/>
            <a:chOff x="0" y="0"/>
            <a:chExt cx="2192553" cy="745067"/>
          </a:xfrm>
        </p:grpSpPr>
        <p:sp>
          <p:nvSpPr>
            <p:cNvPr name="Freeform 3" id="3"/>
            <p:cNvSpPr/>
            <p:nvPr/>
          </p:nvSpPr>
          <p:spPr>
            <a:xfrm flipH="false" flipV="false" rot="0">
              <a:off x="0" y="0"/>
              <a:ext cx="2192553" cy="745067"/>
            </a:xfrm>
            <a:custGeom>
              <a:avLst/>
              <a:gdLst/>
              <a:ahLst/>
              <a:cxnLst/>
              <a:rect r="r" b="b" t="t" l="l"/>
              <a:pathLst>
                <a:path h="745067" w="2192553">
                  <a:moveTo>
                    <a:pt x="37199" y="0"/>
                  </a:moveTo>
                  <a:lnTo>
                    <a:pt x="2155354" y="0"/>
                  </a:lnTo>
                  <a:cubicBezTo>
                    <a:pt x="2165220" y="0"/>
                    <a:pt x="2174682" y="3919"/>
                    <a:pt x="2181658" y="10895"/>
                  </a:cubicBezTo>
                  <a:cubicBezTo>
                    <a:pt x="2188634" y="17872"/>
                    <a:pt x="2192553" y="27333"/>
                    <a:pt x="2192553" y="37199"/>
                  </a:cubicBezTo>
                  <a:lnTo>
                    <a:pt x="2192553" y="707868"/>
                  </a:lnTo>
                  <a:cubicBezTo>
                    <a:pt x="2192553" y="717733"/>
                    <a:pt x="2188634" y="727195"/>
                    <a:pt x="2181658" y="734171"/>
                  </a:cubicBezTo>
                  <a:cubicBezTo>
                    <a:pt x="2174682" y="741147"/>
                    <a:pt x="2165220" y="745067"/>
                    <a:pt x="2155354" y="745067"/>
                  </a:cubicBezTo>
                  <a:lnTo>
                    <a:pt x="37199" y="745067"/>
                  </a:lnTo>
                  <a:cubicBezTo>
                    <a:pt x="27333" y="745067"/>
                    <a:pt x="17872" y="741147"/>
                    <a:pt x="10895" y="734171"/>
                  </a:cubicBezTo>
                  <a:cubicBezTo>
                    <a:pt x="3919" y="727195"/>
                    <a:pt x="0" y="717733"/>
                    <a:pt x="0" y="707868"/>
                  </a:cubicBezTo>
                  <a:lnTo>
                    <a:pt x="0" y="37199"/>
                  </a:lnTo>
                  <a:cubicBezTo>
                    <a:pt x="0" y="27333"/>
                    <a:pt x="3919" y="17872"/>
                    <a:pt x="10895" y="10895"/>
                  </a:cubicBezTo>
                  <a:cubicBezTo>
                    <a:pt x="17872" y="3919"/>
                    <a:pt x="27333" y="0"/>
                    <a:pt x="37199" y="0"/>
                  </a:cubicBezTo>
                  <a:close/>
                </a:path>
              </a:pathLst>
            </a:custGeom>
            <a:solidFill>
              <a:srgbClr val="A6CEE3"/>
            </a:solidFill>
          </p:spPr>
        </p:sp>
        <p:sp>
          <p:nvSpPr>
            <p:cNvPr name="TextBox 4" id="4"/>
            <p:cNvSpPr txBox="true"/>
            <p:nvPr/>
          </p:nvSpPr>
          <p:spPr>
            <a:xfrm>
              <a:off x="0" y="-57150"/>
              <a:ext cx="2192553" cy="802217"/>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666750" y="6791325"/>
            <a:ext cx="8324850" cy="2828925"/>
            <a:chOff x="0" y="0"/>
            <a:chExt cx="2192553" cy="745067"/>
          </a:xfrm>
        </p:grpSpPr>
        <p:sp>
          <p:nvSpPr>
            <p:cNvPr name="Freeform 6" id="6"/>
            <p:cNvSpPr/>
            <p:nvPr/>
          </p:nvSpPr>
          <p:spPr>
            <a:xfrm flipH="false" flipV="false" rot="0">
              <a:off x="0" y="0"/>
              <a:ext cx="2192553" cy="745067"/>
            </a:xfrm>
            <a:custGeom>
              <a:avLst/>
              <a:gdLst/>
              <a:ahLst/>
              <a:cxnLst/>
              <a:rect r="r" b="b" t="t" l="l"/>
              <a:pathLst>
                <a:path h="745067" w="2192553">
                  <a:moveTo>
                    <a:pt x="37199" y="0"/>
                  </a:moveTo>
                  <a:lnTo>
                    <a:pt x="2155354" y="0"/>
                  </a:lnTo>
                  <a:cubicBezTo>
                    <a:pt x="2165220" y="0"/>
                    <a:pt x="2174682" y="3919"/>
                    <a:pt x="2181658" y="10895"/>
                  </a:cubicBezTo>
                  <a:cubicBezTo>
                    <a:pt x="2188634" y="17872"/>
                    <a:pt x="2192553" y="27333"/>
                    <a:pt x="2192553" y="37199"/>
                  </a:cubicBezTo>
                  <a:lnTo>
                    <a:pt x="2192553" y="707868"/>
                  </a:lnTo>
                  <a:cubicBezTo>
                    <a:pt x="2192553" y="717733"/>
                    <a:pt x="2188634" y="727195"/>
                    <a:pt x="2181658" y="734171"/>
                  </a:cubicBezTo>
                  <a:cubicBezTo>
                    <a:pt x="2174682" y="741147"/>
                    <a:pt x="2165220" y="745067"/>
                    <a:pt x="2155354" y="745067"/>
                  </a:cubicBezTo>
                  <a:lnTo>
                    <a:pt x="37199" y="745067"/>
                  </a:lnTo>
                  <a:cubicBezTo>
                    <a:pt x="27333" y="745067"/>
                    <a:pt x="17872" y="741147"/>
                    <a:pt x="10895" y="734171"/>
                  </a:cubicBezTo>
                  <a:cubicBezTo>
                    <a:pt x="3919" y="727195"/>
                    <a:pt x="0" y="717733"/>
                    <a:pt x="0" y="707868"/>
                  </a:cubicBezTo>
                  <a:lnTo>
                    <a:pt x="0" y="37199"/>
                  </a:lnTo>
                  <a:cubicBezTo>
                    <a:pt x="0" y="27333"/>
                    <a:pt x="3919" y="17872"/>
                    <a:pt x="10895" y="10895"/>
                  </a:cubicBezTo>
                  <a:cubicBezTo>
                    <a:pt x="17872" y="3919"/>
                    <a:pt x="27333" y="0"/>
                    <a:pt x="37199" y="0"/>
                  </a:cubicBezTo>
                  <a:close/>
                </a:path>
              </a:pathLst>
            </a:custGeom>
            <a:solidFill>
              <a:srgbClr val="A6CEE3"/>
            </a:solidFill>
          </p:spPr>
        </p:sp>
        <p:sp>
          <p:nvSpPr>
            <p:cNvPr name="TextBox 7" id="7"/>
            <p:cNvSpPr txBox="true"/>
            <p:nvPr/>
          </p:nvSpPr>
          <p:spPr>
            <a:xfrm>
              <a:off x="0" y="-57150"/>
              <a:ext cx="2192553" cy="802217"/>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9296400" y="3657600"/>
            <a:ext cx="8334375" cy="2828925"/>
            <a:chOff x="0" y="0"/>
            <a:chExt cx="2195062" cy="745067"/>
          </a:xfrm>
        </p:grpSpPr>
        <p:sp>
          <p:nvSpPr>
            <p:cNvPr name="Freeform 9" id="9"/>
            <p:cNvSpPr/>
            <p:nvPr/>
          </p:nvSpPr>
          <p:spPr>
            <a:xfrm flipH="false" flipV="false" rot="0">
              <a:off x="0" y="0"/>
              <a:ext cx="2195062" cy="745067"/>
            </a:xfrm>
            <a:custGeom>
              <a:avLst/>
              <a:gdLst/>
              <a:ahLst/>
              <a:cxnLst/>
              <a:rect r="r" b="b" t="t" l="l"/>
              <a:pathLst>
                <a:path h="745067" w="2195062">
                  <a:moveTo>
                    <a:pt x="37157" y="0"/>
                  </a:moveTo>
                  <a:lnTo>
                    <a:pt x="2157905" y="0"/>
                  </a:lnTo>
                  <a:cubicBezTo>
                    <a:pt x="2178426" y="0"/>
                    <a:pt x="2195062" y="16636"/>
                    <a:pt x="2195062" y="37157"/>
                  </a:cubicBezTo>
                  <a:lnTo>
                    <a:pt x="2195062" y="707910"/>
                  </a:lnTo>
                  <a:cubicBezTo>
                    <a:pt x="2195062" y="728431"/>
                    <a:pt x="2178426" y="745067"/>
                    <a:pt x="2157905" y="745067"/>
                  </a:cubicBezTo>
                  <a:lnTo>
                    <a:pt x="37157" y="745067"/>
                  </a:lnTo>
                  <a:cubicBezTo>
                    <a:pt x="16636" y="745067"/>
                    <a:pt x="0" y="728431"/>
                    <a:pt x="0" y="707910"/>
                  </a:cubicBezTo>
                  <a:lnTo>
                    <a:pt x="0" y="37157"/>
                  </a:lnTo>
                  <a:cubicBezTo>
                    <a:pt x="0" y="16636"/>
                    <a:pt x="16636" y="0"/>
                    <a:pt x="37157" y="0"/>
                  </a:cubicBezTo>
                  <a:close/>
                </a:path>
              </a:pathLst>
            </a:custGeom>
            <a:solidFill>
              <a:srgbClr val="A6CEE3"/>
            </a:solidFill>
          </p:spPr>
        </p:sp>
        <p:sp>
          <p:nvSpPr>
            <p:cNvPr name="TextBox 10" id="10"/>
            <p:cNvSpPr txBox="true"/>
            <p:nvPr/>
          </p:nvSpPr>
          <p:spPr>
            <a:xfrm>
              <a:off x="0" y="-57150"/>
              <a:ext cx="2195062" cy="802217"/>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9296400" y="6791325"/>
            <a:ext cx="8334375" cy="2828925"/>
            <a:chOff x="0" y="0"/>
            <a:chExt cx="2195062" cy="745067"/>
          </a:xfrm>
        </p:grpSpPr>
        <p:sp>
          <p:nvSpPr>
            <p:cNvPr name="Freeform 12" id="12"/>
            <p:cNvSpPr/>
            <p:nvPr/>
          </p:nvSpPr>
          <p:spPr>
            <a:xfrm flipH="false" flipV="false" rot="0">
              <a:off x="0" y="0"/>
              <a:ext cx="2195062" cy="745067"/>
            </a:xfrm>
            <a:custGeom>
              <a:avLst/>
              <a:gdLst/>
              <a:ahLst/>
              <a:cxnLst/>
              <a:rect r="r" b="b" t="t" l="l"/>
              <a:pathLst>
                <a:path h="745067" w="2195062">
                  <a:moveTo>
                    <a:pt x="37157" y="0"/>
                  </a:moveTo>
                  <a:lnTo>
                    <a:pt x="2157905" y="0"/>
                  </a:lnTo>
                  <a:cubicBezTo>
                    <a:pt x="2178426" y="0"/>
                    <a:pt x="2195062" y="16636"/>
                    <a:pt x="2195062" y="37157"/>
                  </a:cubicBezTo>
                  <a:lnTo>
                    <a:pt x="2195062" y="707910"/>
                  </a:lnTo>
                  <a:cubicBezTo>
                    <a:pt x="2195062" y="728431"/>
                    <a:pt x="2178426" y="745067"/>
                    <a:pt x="2157905" y="745067"/>
                  </a:cubicBezTo>
                  <a:lnTo>
                    <a:pt x="37157" y="745067"/>
                  </a:lnTo>
                  <a:cubicBezTo>
                    <a:pt x="16636" y="745067"/>
                    <a:pt x="0" y="728431"/>
                    <a:pt x="0" y="707910"/>
                  </a:cubicBezTo>
                  <a:lnTo>
                    <a:pt x="0" y="37157"/>
                  </a:lnTo>
                  <a:cubicBezTo>
                    <a:pt x="0" y="16636"/>
                    <a:pt x="16636" y="0"/>
                    <a:pt x="37157" y="0"/>
                  </a:cubicBezTo>
                  <a:close/>
                </a:path>
              </a:pathLst>
            </a:custGeom>
            <a:solidFill>
              <a:srgbClr val="A6CEE3"/>
            </a:solidFill>
          </p:spPr>
        </p:sp>
        <p:sp>
          <p:nvSpPr>
            <p:cNvPr name="TextBox 13" id="13"/>
            <p:cNvSpPr txBox="true"/>
            <p:nvPr/>
          </p:nvSpPr>
          <p:spPr>
            <a:xfrm>
              <a:off x="0" y="-57150"/>
              <a:ext cx="2195062" cy="802217"/>
            </a:xfrm>
            <a:prstGeom prst="rect">
              <a:avLst/>
            </a:prstGeom>
          </p:spPr>
          <p:txBody>
            <a:bodyPr anchor="ctr" rtlCol="false" tIns="50800" lIns="50800" bIns="50800" rIns="50800"/>
            <a:lstStyle/>
            <a:p>
              <a:pPr algn="ctr">
                <a:lnSpc>
                  <a:spcPts val="3359"/>
                </a:lnSpc>
              </a:pPr>
            </a:p>
          </p:txBody>
        </p:sp>
      </p:grpSp>
      <p:grpSp>
        <p:nvGrpSpPr>
          <p:cNvPr name="Group 14" id="14"/>
          <p:cNvGrpSpPr/>
          <p:nvPr/>
        </p:nvGrpSpPr>
        <p:grpSpPr>
          <a:xfrm rot="0">
            <a:off x="666750" y="666750"/>
            <a:ext cx="16954500" cy="2686050"/>
            <a:chOff x="0" y="0"/>
            <a:chExt cx="4987154" cy="790100"/>
          </a:xfrm>
        </p:grpSpPr>
        <p:sp>
          <p:nvSpPr>
            <p:cNvPr name="Freeform 15" id="15"/>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606060"/>
            </a:solidFill>
          </p:spPr>
        </p:sp>
      </p:grpSp>
      <p:grpSp>
        <p:nvGrpSpPr>
          <p:cNvPr name="Group 16" id="16"/>
          <p:cNvGrpSpPr/>
          <p:nvPr/>
        </p:nvGrpSpPr>
        <p:grpSpPr>
          <a:xfrm rot="0">
            <a:off x="2105025" y="4248150"/>
            <a:ext cx="6141142" cy="1709843"/>
            <a:chOff x="0" y="0"/>
            <a:chExt cx="8188190" cy="2279790"/>
          </a:xfrm>
        </p:grpSpPr>
        <p:sp>
          <p:nvSpPr>
            <p:cNvPr name="TextBox 17" id="17"/>
            <p:cNvSpPr txBox="true"/>
            <p:nvPr/>
          </p:nvSpPr>
          <p:spPr>
            <a:xfrm rot="0">
              <a:off x="0" y="-9525"/>
              <a:ext cx="8188190" cy="1203325"/>
            </a:xfrm>
            <a:prstGeom prst="rect">
              <a:avLst/>
            </a:prstGeom>
          </p:spPr>
          <p:txBody>
            <a:bodyPr anchor="t" rtlCol="false" tIns="0" lIns="0" bIns="0" rIns="0">
              <a:spAutoFit/>
            </a:bodyPr>
            <a:lstStyle/>
            <a:p>
              <a:pPr algn="l" marL="0" indent="0" lvl="0">
                <a:lnSpc>
                  <a:spcPts val="3554"/>
                </a:lnSpc>
                <a:spcBef>
                  <a:spcPct val="0"/>
                </a:spcBef>
              </a:pPr>
              <a:r>
                <a:rPr lang="en-US" b="true" sz="2962" spc="-162" strike="noStrike" u="none">
                  <a:solidFill>
                    <a:srgbClr val="606060"/>
                  </a:solidFill>
                  <a:latin typeface="Work Sans Semi-Bold"/>
                  <a:ea typeface="Work Sans Semi-Bold"/>
                  <a:cs typeface="Work Sans Semi-Bold"/>
                  <a:sym typeface="Work Sans Semi-Bold"/>
                </a:rPr>
                <a:t>Comprehensive support for major Indian languages</a:t>
              </a:r>
            </a:p>
          </p:txBody>
        </p:sp>
        <p:sp>
          <p:nvSpPr>
            <p:cNvPr name="TextBox 18" id="18"/>
            <p:cNvSpPr txBox="true"/>
            <p:nvPr/>
          </p:nvSpPr>
          <p:spPr>
            <a:xfrm rot="0">
              <a:off x="0" y="1432065"/>
              <a:ext cx="8188190" cy="847725"/>
            </a:xfrm>
            <a:prstGeom prst="rect">
              <a:avLst/>
            </a:prstGeom>
          </p:spPr>
          <p:txBody>
            <a:bodyPr anchor="t" rtlCol="false" tIns="0" lIns="0" bIns="0" rIns="0">
              <a:spAutoFit/>
            </a:bodyPr>
            <a:lstStyle/>
            <a:p>
              <a:pPr algn="l" marL="0" indent="0" lvl="0">
                <a:lnSpc>
                  <a:spcPts val="2520"/>
                </a:lnSpc>
              </a:pPr>
              <a:r>
                <a:rPr lang="en-US" b="true" sz="2100" spc="-115">
                  <a:solidFill>
                    <a:srgbClr val="2A2A2A"/>
                  </a:solidFill>
                  <a:latin typeface="Work Sans Bold"/>
                  <a:ea typeface="Work Sans Bold"/>
                  <a:cs typeface="Work Sans Bold"/>
                  <a:sym typeface="Work Sans Bold"/>
                </a:rPr>
                <a:t>Helps users communicate</a:t>
              </a:r>
              <a:r>
                <a:rPr lang="en-US" sz="2100" spc="-115">
                  <a:solidFill>
                    <a:srgbClr val="2A2A2A"/>
                  </a:solidFill>
                  <a:latin typeface="Work Sans"/>
                  <a:ea typeface="Work Sans"/>
                  <a:cs typeface="Work Sans"/>
                  <a:sym typeface="Work Sans"/>
                </a:rPr>
                <a:t> effectively in their native language.</a:t>
              </a:r>
            </a:p>
          </p:txBody>
        </p:sp>
      </p:grpSp>
      <p:grpSp>
        <p:nvGrpSpPr>
          <p:cNvPr name="Group 19" id="19"/>
          <p:cNvGrpSpPr/>
          <p:nvPr/>
        </p:nvGrpSpPr>
        <p:grpSpPr>
          <a:xfrm rot="0">
            <a:off x="2105025" y="7381875"/>
            <a:ext cx="6141142" cy="1709843"/>
            <a:chOff x="0" y="0"/>
            <a:chExt cx="8188190" cy="2279790"/>
          </a:xfrm>
        </p:grpSpPr>
        <p:sp>
          <p:nvSpPr>
            <p:cNvPr name="TextBox 20" id="20"/>
            <p:cNvSpPr txBox="true"/>
            <p:nvPr/>
          </p:nvSpPr>
          <p:spPr>
            <a:xfrm rot="0">
              <a:off x="0" y="-9525"/>
              <a:ext cx="8188190" cy="1203325"/>
            </a:xfrm>
            <a:prstGeom prst="rect">
              <a:avLst/>
            </a:prstGeom>
          </p:spPr>
          <p:txBody>
            <a:bodyPr anchor="t" rtlCol="false" tIns="0" lIns="0" bIns="0" rIns="0">
              <a:spAutoFit/>
            </a:bodyPr>
            <a:lstStyle/>
            <a:p>
              <a:pPr algn="l" marL="0" indent="0" lvl="0">
                <a:lnSpc>
                  <a:spcPts val="3554"/>
                </a:lnSpc>
                <a:spcBef>
                  <a:spcPct val="0"/>
                </a:spcBef>
              </a:pPr>
              <a:r>
                <a:rPr lang="en-US" b="true" sz="2962" spc="-162" strike="noStrike" u="none">
                  <a:solidFill>
                    <a:srgbClr val="606060"/>
                  </a:solidFill>
                  <a:latin typeface="Work Sans Semi-Bold"/>
                  <a:ea typeface="Work Sans Semi-Bold"/>
                  <a:cs typeface="Work Sans Semi-Bold"/>
                  <a:sym typeface="Work Sans Semi-Bold"/>
                </a:rPr>
                <a:t>Offline capabilities for rural accessibility</a:t>
              </a:r>
            </a:p>
          </p:txBody>
        </p:sp>
        <p:sp>
          <p:nvSpPr>
            <p:cNvPr name="TextBox 21" id="21"/>
            <p:cNvSpPr txBox="true"/>
            <p:nvPr/>
          </p:nvSpPr>
          <p:spPr>
            <a:xfrm rot="0">
              <a:off x="0" y="1432065"/>
              <a:ext cx="8188190" cy="847725"/>
            </a:xfrm>
            <a:prstGeom prst="rect">
              <a:avLst/>
            </a:prstGeom>
          </p:spPr>
          <p:txBody>
            <a:bodyPr anchor="t" rtlCol="false" tIns="0" lIns="0" bIns="0" rIns="0">
              <a:spAutoFit/>
            </a:bodyPr>
            <a:lstStyle/>
            <a:p>
              <a:pPr algn="l" marL="0" indent="0" lvl="0">
                <a:lnSpc>
                  <a:spcPts val="2520"/>
                </a:lnSpc>
              </a:pPr>
              <a:r>
                <a:rPr lang="en-US" b="true" sz="2100" spc="-115">
                  <a:solidFill>
                    <a:srgbClr val="2A2A2A"/>
                  </a:solidFill>
                  <a:latin typeface="Work Sans Bold"/>
                  <a:ea typeface="Work Sans Bold"/>
                  <a:cs typeface="Work Sans Bold"/>
                  <a:sym typeface="Work Sans Bold"/>
                </a:rPr>
                <a:t>Ensures functionality</a:t>
              </a:r>
              <a:r>
                <a:rPr lang="en-US" sz="2100" spc="-115">
                  <a:solidFill>
                    <a:srgbClr val="2A2A2A"/>
                  </a:solidFill>
                  <a:latin typeface="Work Sans"/>
                  <a:ea typeface="Work Sans"/>
                  <a:cs typeface="Work Sans"/>
                  <a:sym typeface="Work Sans"/>
                </a:rPr>
                <a:t> even in low connectivity areas.</a:t>
              </a:r>
            </a:p>
          </p:txBody>
        </p:sp>
      </p:grpSp>
      <p:grpSp>
        <p:nvGrpSpPr>
          <p:cNvPr name="Group 22" id="22"/>
          <p:cNvGrpSpPr/>
          <p:nvPr/>
        </p:nvGrpSpPr>
        <p:grpSpPr>
          <a:xfrm rot="0">
            <a:off x="10734675" y="4248150"/>
            <a:ext cx="6216102" cy="1709843"/>
            <a:chOff x="0" y="0"/>
            <a:chExt cx="8288136" cy="2279790"/>
          </a:xfrm>
        </p:grpSpPr>
        <p:sp>
          <p:nvSpPr>
            <p:cNvPr name="TextBox 23" id="23"/>
            <p:cNvSpPr txBox="true"/>
            <p:nvPr/>
          </p:nvSpPr>
          <p:spPr>
            <a:xfrm rot="0">
              <a:off x="0" y="-9525"/>
              <a:ext cx="8288136" cy="1203325"/>
            </a:xfrm>
            <a:prstGeom prst="rect">
              <a:avLst/>
            </a:prstGeom>
          </p:spPr>
          <p:txBody>
            <a:bodyPr anchor="t" rtlCol="false" tIns="0" lIns="0" bIns="0" rIns="0">
              <a:spAutoFit/>
            </a:bodyPr>
            <a:lstStyle/>
            <a:p>
              <a:pPr algn="l" marL="0" indent="0" lvl="0">
                <a:lnSpc>
                  <a:spcPts val="3554"/>
                </a:lnSpc>
                <a:spcBef>
                  <a:spcPct val="0"/>
                </a:spcBef>
              </a:pPr>
              <a:r>
                <a:rPr lang="en-US" b="true" sz="2962" spc="-162" strike="noStrike" u="none">
                  <a:solidFill>
                    <a:srgbClr val="606060"/>
                  </a:solidFill>
                  <a:latin typeface="Work Sans Semi-Bold"/>
                  <a:ea typeface="Work Sans Semi-Bold"/>
                  <a:cs typeface="Work Sans Semi-Bold"/>
                  <a:sym typeface="Work Sans Semi-Bold"/>
                </a:rPr>
                <a:t>User-friendly voice-first interaction for all</a:t>
              </a:r>
            </a:p>
          </p:txBody>
        </p:sp>
        <p:sp>
          <p:nvSpPr>
            <p:cNvPr name="TextBox 24" id="24"/>
            <p:cNvSpPr txBox="true"/>
            <p:nvPr/>
          </p:nvSpPr>
          <p:spPr>
            <a:xfrm rot="0">
              <a:off x="0" y="1432065"/>
              <a:ext cx="8288136" cy="847725"/>
            </a:xfrm>
            <a:prstGeom prst="rect">
              <a:avLst/>
            </a:prstGeom>
          </p:spPr>
          <p:txBody>
            <a:bodyPr anchor="t" rtlCol="false" tIns="0" lIns="0" bIns="0" rIns="0">
              <a:spAutoFit/>
            </a:bodyPr>
            <a:lstStyle/>
            <a:p>
              <a:pPr algn="l" marL="0" indent="0" lvl="0">
                <a:lnSpc>
                  <a:spcPts val="2520"/>
                </a:lnSpc>
              </a:pPr>
              <a:r>
                <a:rPr lang="en-US" b="true" sz="2100" spc="-115">
                  <a:solidFill>
                    <a:srgbClr val="2A2A2A"/>
                  </a:solidFill>
                  <a:latin typeface="Work Sans Bold"/>
                  <a:ea typeface="Work Sans Bold"/>
                  <a:cs typeface="Work Sans Bold"/>
                  <a:sym typeface="Work Sans Bold"/>
                </a:rPr>
                <a:t>Enables easy access</a:t>
              </a:r>
              <a:r>
                <a:rPr lang="en-US" sz="2100" spc="-115">
                  <a:solidFill>
                    <a:srgbClr val="2A2A2A"/>
                  </a:solidFill>
                  <a:latin typeface="Work Sans"/>
                  <a:ea typeface="Work Sans"/>
                  <a:cs typeface="Work Sans"/>
                  <a:sym typeface="Work Sans"/>
                </a:rPr>
                <a:t> for non-technical and low-literacy users.</a:t>
              </a:r>
            </a:p>
          </p:txBody>
        </p:sp>
      </p:grpSp>
      <p:grpSp>
        <p:nvGrpSpPr>
          <p:cNvPr name="Group 25" id="25"/>
          <p:cNvGrpSpPr/>
          <p:nvPr/>
        </p:nvGrpSpPr>
        <p:grpSpPr>
          <a:xfrm rot="0">
            <a:off x="10734675" y="7381875"/>
            <a:ext cx="6216102" cy="1709843"/>
            <a:chOff x="0" y="0"/>
            <a:chExt cx="8288136" cy="2279790"/>
          </a:xfrm>
        </p:grpSpPr>
        <p:sp>
          <p:nvSpPr>
            <p:cNvPr name="TextBox 26" id="26"/>
            <p:cNvSpPr txBox="true"/>
            <p:nvPr/>
          </p:nvSpPr>
          <p:spPr>
            <a:xfrm rot="0">
              <a:off x="0" y="-9525"/>
              <a:ext cx="8288136" cy="1203325"/>
            </a:xfrm>
            <a:prstGeom prst="rect">
              <a:avLst/>
            </a:prstGeom>
          </p:spPr>
          <p:txBody>
            <a:bodyPr anchor="t" rtlCol="false" tIns="0" lIns="0" bIns="0" rIns="0">
              <a:spAutoFit/>
            </a:bodyPr>
            <a:lstStyle/>
            <a:p>
              <a:pPr algn="l" marL="0" indent="0" lvl="0">
                <a:lnSpc>
                  <a:spcPts val="3554"/>
                </a:lnSpc>
                <a:spcBef>
                  <a:spcPct val="0"/>
                </a:spcBef>
              </a:pPr>
              <a:r>
                <a:rPr lang="en-US" b="true" sz="2962" spc="-162" strike="noStrike" u="none">
                  <a:solidFill>
                    <a:srgbClr val="606060"/>
                  </a:solidFill>
                  <a:latin typeface="Work Sans Semi-Bold"/>
                  <a:ea typeface="Work Sans Semi-Bold"/>
                  <a:cs typeface="Work Sans Semi-Bold"/>
                  <a:sym typeface="Work Sans Semi-Bold"/>
                </a:rPr>
                <a:t>Integration with essential public services</a:t>
              </a:r>
            </a:p>
          </p:txBody>
        </p:sp>
        <p:sp>
          <p:nvSpPr>
            <p:cNvPr name="TextBox 27" id="27"/>
            <p:cNvSpPr txBox="true"/>
            <p:nvPr/>
          </p:nvSpPr>
          <p:spPr>
            <a:xfrm rot="0">
              <a:off x="0" y="1432065"/>
              <a:ext cx="8288136" cy="847725"/>
            </a:xfrm>
            <a:prstGeom prst="rect">
              <a:avLst/>
            </a:prstGeom>
          </p:spPr>
          <p:txBody>
            <a:bodyPr anchor="t" rtlCol="false" tIns="0" lIns="0" bIns="0" rIns="0">
              <a:spAutoFit/>
            </a:bodyPr>
            <a:lstStyle/>
            <a:p>
              <a:pPr algn="l" marL="0" indent="0" lvl="0">
                <a:lnSpc>
                  <a:spcPts val="2520"/>
                </a:lnSpc>
              </a:pPr>
              <a:r>
                <a:rPr lang="en-US" b="true" sz="2100" spc="-115">
                  <a:solidFill>
                    <a:srgbClr val="2A2A2A"/>
                  </a:solidFill>
                  <a:latin typeface="Work Sans Bold"/>
                  <a:ea typeface="Work Sans Bold"/>
                  <a:cs typeface="Work Sans Bold"/>
                  <a:sym typeface="Work Sans Bold"/>
                </a:rPr>
                <a:t>Links users</a:t>
              </a:r>
              <a:r>
                <a:rPr lang="en-US" sz="2100" spc="-115">
                  <a:solidFill>
                    <a:srgbClr val="2A2A2A"/>
                  </a:solidFill>
                  <a:latin typeface="Work Sans"/>
                  <a:ea typeface="Work Sans"/>
                  <a:cs typeface="Work Sans"/>
                  <a:sym typeface="Work Sans"/>
                </a:rPr>
                <a:t> to healthcare, education, and agricultural resources.</a:t>
              </a:r>
            </a:p>
          </p:txBody>
        </p:sp>
      </p:grpSp>
      <p:sp>
        <p:nvSpPr>
          <p:cNvPr name="TextBox 28" id="28"/>
          <p:cNvSpPr txBox="true"/>
          <p:nvPr/>
        </p:nvSpPr>
        <p:spPr>
          <a:xfrm rot="0">
            <a:off x="2105025" y="1641475"/>
            <a:ext cx="14077950" cy="898525"/>
          </a:xfrm>
          <a:prstGeom prst="rect">
            <a:avLst/>
          </a:prstGeom>
        </p:spPr>
        <p:txBody>
          <a:bodyPr anchor="t" rtlCol="false" tIns="0" lIns="0" bIns="0" rIns="0">
            <a:spAutoFit/>
          </a:bodyPr>
          <a:lstStyle/>
          <a:p>
            <a:pPr algn="l" marL="0" indent="0" lvl="0">
              <a:lnSpc>
                <a:spcPts val="6649"/>
              </a:lnSpc>
              <a:spcBef>
                <a:spcPct val="0"/>
              </a:spcBef>
            </a:pPr>
            <a:r>
              <a:rPr lang="en-US" b="true" sz="6999" spc="-384" strike="noStrike" u="none">
                <a:solidFill>
                  <a:srgbClr val="2A2A2A"/>
                </a:solidFill>
                <a:latin typeface="Work Sans Semi-Bold"/>
                <a:ea typeface="Work Sans Semi-Bold"/>
                <a:cs typeface="Work Sans Semi-Bold"/>
                <a:sym typeface="Work Sans Semi-Bold"/>
              </a:rPr>
              <a:t>Key Features</a:t>
            </a:r>
          </a:p>
        </p:txBody>
      </p:sp>
      <p:sp>
        <p:nvSpPr>
          <p:cNvPr name="Freeform 29" id="29"/>
          <p:cNvSpPr/>
          <p:nvPr/>
        </p:nvSpPr>
        <p:spPr>
          <a:xfrm flipH="false" flipV="false" rot="0">
            <a:off x="1319620"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0" id="30"/>
          <p:cNvSpPr/>
          <p:nvPr/>
        </p:nvSpPr>
        <p:spPr>
          <a:xfrm flipH="false" flipV="false" rot="0">
            <a:off x="9969341"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1" id="31"/>
          <p:cNvSpPr/>
          <p:nvPr/>
        </p:nvSpPr>
        <p:spPr>
          <a:xfrm flipH="false" flipV="false" rot="0">
            <a:off x="1319620" y="7381875"/>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2" id="32"/>
          <p:cNvSpPr/>
          <p:nvPr/>
        </p:nvSpPr>
        <p:spPr>
          <a:xfrm flipH="false" flipV="false" rot="0">
            <a:off x="9969341" y="7381875"/>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A6CEE3"/>
            </a:solidFill>
            <a:ln cap="rnd">
              <a:noFill/>
              <a:prstDash val="solid"/>
              <a:round/>
            </a:ln>
          </p:spPr>
        </p:sp>
      </p:grpSp>
      <p:grpSp>
        <p:nvGrpSpPr>
          <p:cNvPr name="Group 4" id="4"/>
          <p:cNvGrpSpPr/>
          <p:nvPr/>
        </p:nvGrpSpPr>
        <p:grpSpPr>
          <a:xfrm rot="0">
            <a:off x="2105025" y="1562100"/>
            <a:ext cx="6886575" cy="3713217"/>
            <a:chOff x="0" y="0"/>
            <a:chExt cx="9182100" cy="4950956"/>
          </a:xfrm>
        </p:grpSpPr>
        <p:sp>
          <p:nvSpPr>
            <p:cNvPr name="TextBox 5" id="5"/>
            <p:cNvSpPr txBox="true"/>
            <p:nvPr/>
          </p:nvSpPr>
          <p:spPr>
            <a:xfrm rot="0">
              <a:off x="0" y="1588631"/>
              <a:ext cx="7264400" cy="3362325"/>
            </a:xfrm>
            <a:prstGeom prst="rect">
              <a:avLst/>
            </a:prstGeom>
          </p:spPr>
          <p:txBody>
            <a:bodyPr anchor="t" rtlCol="false" tIns="0" lIns="0" bIns="0" rIns="0">
              <a:spAutoFit/>
            </a:bodyPr>
            <a:lstStyle/>
            <a:p>
              <a:pPr algn="l" marL="0" indent="0" lvl="0">
                <a:lnSpc>
                  <a:spcPts val="2520"/>
                </a:lnSpc>
              </a:pPr>
              <a:r>
                <a:rPr lang="en-US" sz="2100" spc="-115">
                  <a:solidFill>
                    <a:srgbClr val="2A2A2A"/>
                  </a:solidFill>
                  <a:latin typeface="Work Sans"/>
                  <a:ea typeface="Work Sans"/>
                  <a:cs typeface="Work Sans"/>
                  <a:sym typeface="Work Sans"/>
                </a:rPr>
                <a:t>The architecture utilizes </a:t>
              </a:r>
              <a:r>
                <a:rPr lang="en-US" b="true" sz="2100" spc="-115">
                  <a:solidFill>
                    <a:srgbClr val="2A2A2A"/>
                  </a:solidFill>
                  <a:latin typeface="Work Sans Bold"/>
                  <a:ea typeface="Work Sans Bold"/>
                  <a:cs typeface="Work Sans Bold"/>
                  <a:sym typeface="Work Sans Bold"/>
                </a:rPr>
                <a:t>lightweight edge models</a:t>
              </a:r>
              <a:r>
                <a:rPr lang="en-US" sz="2100" spc="-115">
                  <a:solidFill>
                    <a:srgbClr val="2A2A2A"/>
                  </a:solidFill>
                  <a:latin typeface="Work Sans"/>
                  <a:ea typeface="Work Sans"/>
                  <a:cs typeface="Work Sans"/>
                  <a:sym typeface="Work Sans"/>
                </a:rPr>
                <a:t> that enable fast processing on mobile devices, ensuring responsive interactions. By optimizing for low bandwidth and limited resources, these models provide seamless experiences for users across India, improving accessibility and performance in diverse environments.</a:t>
              </a:r>
            </a:p>
          </p:txBody>
        </p:sp>
        <p:sp>
          <p:nvSpPr>
            <p:cNvPr name="TextBox 6" id="6"/>
            <p:cNvSpPr txBox="true"/>
            <p:nvPr/>
          </p:nvSpPr>
          <p:spPr>
            <a:xfrm rot="0">
              <a:off x="0" y="133350"/>
              <a:ext cx="91821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2A2A2A"/>
                  </a:solidFill>
                  <a:latin typeface="Work Sans Semi-Bold"/>
                  <a:ea typeface="Work Sans Semi-Bold"/>
                  <a:cs typeface="Work Sans Semi-Bold"/>
                  <a:sym typeface="Work Sans Semi-Bold"/>
                </a:rPr>
                <a:t>Architecture</a:t>
              </a:r>
            </a:p>
          </p:txBody>
        </p:sp>
      </p:grpSp>
      <p:grpSp>
        <p:nvGrpSpPr>
          <p:cNvPr name="Group 7" id="7"/>
          <p:cNvGrpSpPr/>
          <p:nvPr/>
        </p:nvGrpSpPr>
        <p:grpSpPr>
          <a:xfrm rot="0">
            <a:off x="10312605" y="981075"/>
            <a:ext cx="6946695" cy="7471274"/>
            <a:chOff x="0" y="0"/>
            <a:chExt cx="3482081" cy="3745030"/>
          </a:xfrm>
        </p:grpSpPr>
        <p:sp>
          <p:nvSpPr>
            <p:cNvPr name="Freeform 8" id="8"/>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12" r="0" b="-12"/>
              </a:stretch>
            </a:blipFill>
          </p:spPr>
        </p:sp>
        <p:sp>
          <p:nvSpPr>
            <p:cNvPr name="Freeform 9" id="9"/>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2A2A2A"/>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666750" y="3657600"/>
            <a:ext cx="5448300" cy="5962650"/>
            <a:chOff x="0" y="0"/>
            <a:chExt cx="1434943" cy="1570410"/>
          </a:xfrm>
        </p:grpSpPr>
        <p:sp>
          <p:nvSpPr>
            <p:cNvPr name="Freeform 3" id="3"/>
            <p:cNvSpPr/>
            <p:nvPr/>
          </p:nvSpPr>
          <p:spPr>
            <a:xfrm flipH="false" flipV="false" rot="0">
              <a:off x="0" y="0"/>
              <a:ext cx="1434943" cy="1570410"/>
            </a:xfrm>
            <a:custGeom>
              <a:avLst/>
              <a:gdLst/>
              <a:ahLst/>
              <a:cxnLst/>
              <a:rect r="r" b="b" t="t" l="l"/>
              <a:pathLst>
                <a:path h="1570410" w="1434943">
                  <a:moveTo>
                    <a:pt x="56839" y="0"/>
                  </a:moveTo>
                  <a:lnTo>
                    <a:pt x="1378104" y="0"/>
                  </a:lnTo>
                  <a:cubicBezTo>
                    <a:pt x="1409495" y="0"/>
                    <a:pt x="1434943" y="25448"/>
                    <a:pt x="1434943" y="56839"/>
                  </a:cubicBezTo>
                  <a:lnTo>
                    <a:pt x="1434943" y="1513571"/>
                  </a:lnTo>
                  <a:cubicBezTo>
                    <a:pt x="1434943" y="1544962"/>
                    <a:pt x="1409495" y="1570410"/>
                    <a:pt x="1378104" y="1570410"/>
                  </a:cubicBezTo>
                  <a:lnTo>
                    <a:pt x="56839" y="1570410"/>
                  </a:lnTo>
                  <a:cubicBezTo>
                    <a:pt x="25448" y="1570410"/>
                    <a:pt x="0" y="1544962"/>
                    <a:pt x="0" y="1513571"/>
                  </a:cubicBezTo>
                  <a:lnTo>
                    <a:pt x="0" y="56839"/>
                  </a:lnTo>
                  <a:cubicBezTo>
                    <a:pt x="0" y="25448"/>
                    <a:pt x="25448" y="0"/>
                    <a:pt x="56839" y="0"/>
                  </a:cubicBezTo>
                  <a:close/>
                </a:path>
              </a:pathLst>
            </a:custGeom>
            <a:solidFill>
              <a:srgbClr val="A6CEE3"/>
            </a:solidFill>
          </p:spPr>
        </p:sp>
        <p:sp>
          <p:nvSpPr>
            <p:cNvPr name="TextBox 4" id="4"/>
            <p:cNvSpPr txBox="true"/>
            <p:nvPr/>
          </p:nvSpPr>
          <p:spPr>
            <a:xfrm>
              <a:off x="0" y="-57150"/>
              <a:ext cx="1434943" cy="162756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2105025" y="4248150"/>
            <a:ext cx="3236589" cy="1519343"/>
            <a:chOff x="0" y="0"/>
            <a:chExt cx="4315452" cy="2025790"/>
          </a:xfrm>
        </p:grpSpPr>
        <p:sp>
          <p:nvSpPr>
            <p:cNvPr name="TextBox 6" id="6"/>
            <p:cNvSpPr txBox="true"/>
            <p:nvPr/>
          </p:nvSpPr>
          <p:spPr>
            <a:xfrm rot="0">
              <a:off x="0" y="-9525"/>
              <a:ext cx="4315452" cy="1177925"/>
            </a:xfrm>
            <a:prstGeom prst="rect">
              <a:avLst/>
            </a:prstGeom>
          </p:spPr>
          <p:txBody>
            <a:bodyPr anchor="t" rtlCol="false" tIns="0" lIns="0" bIns="0" rIns="0">
              <a:spAutoFit/>
            </a:bodyPr>
            <a:lstStyle/>
            <a:p>
              <a:pPr algn="l" marL="0" indent="0" lvl="0">
                <a:lnSpc>
                  <a:spcPts val="3510"/>
                </a:lnSpc>
                <a:spcBef>
                  <a:spcPct val="0"/>
                </a:spcBef>
              </a:pPr>
              <a:r>
                <a:rPr lang="en-US" b="true" sz="2925" spc="-160" strike="noStrike" u="none">
                  <a:solidFill>
                    <a:srgbClr val="606060"/>
                  </a:solidFill>
                  <a:latin typeface="Work Sans Bold"/>
                  <a:ea typeface="Work Sans Bold"/>
                  <a:cs typeface="Work Sans Bold"/>
                  <a:sym typeface="Work Sans Bold"/>
                </a:rPr>
                <a:t>Accessible AI for All Citizens in India</a:t>
              </a:r>
            </a:p>
          </p:txBody>
        </p:sp>
        <p:sp>
          <p:nvSpPr>
            <p:cNvPr name="TextBox 7" id="7"/>
            <p:cNvSpPr txBox="true"/>
            <p:nvPr/>
          </p:nvSpPr>
          <p:spPr>
            <a:xfrm rot="0">
              <a:off x="0" y="1406665"/>
              <a:ext cx="4315452" cy="619125"/>
            </a:xfrm>
            <a:prstGeom prst="rect">
              <a:avLst/>
            </a:prstGeom>
          </p:spPr>
          <p:txBody>
            <a:bodyPr anchor="t" rtlCol="false" tIns="0" lIns="0" bIns="0" rIns="0">
              <a:spAutoFit/>
            </a:bodyPr>
            <a:lstStyle/>
            <a:p>
              <a:pPr algn="l" marL="0" indent="0" lvl="0">
                <a:lnSpc>
                  <a:spcPts val="1865"/>
                </a:lnSpc>
              </a:pPr>
              <a:r>
                <a:rPr lang="en-US" sz="1554" spc="-85">
                  <a:solidFill>
                    <a:srgbClr val="2A2A2A"/>
                  </a:solidFill>
                  <a:latin typeface="Work Sans"/>
                  <a:ea typeface="Work Sans"/>
                  <a:cs typeface="Work Sans"/>
                  <a:sym typeface="Work Sans"/>
                </a:rPr>
                <a:t>Democratizes AI access for diverse Indian communities.</a:t>
              </a:r>
            </a:p>
          </p:txBody>
        </p:sp>
      </p:grpSp>
      <p:sp>
        <p:nvSpPr>
          <p:cNvPr name="Freeform 8" id="8"/>
          <p:cNvSpPr/>
          <p:nvPr/>
        </p:nvSpPr>
        <p:spPr>
          <a:xfrm flipH="false" flipV="false" rot="0">
            <a:off x="1319620"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666750" y="666750"/>
            <a:ext cx="16954500" cy="2686050"/>
            <a:chOff x="0" y="0"/>
            <a:chExt cx="4987154" cy="790100"/>
          </a:xfrm>
        </p:grpSpPr>
        <p:sp>
          <p:nvSpPr>
            <p:cNvPr name="Freeform 10" id="10"/>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606060"/>
            </a:solidFill>
          </p:spPr>
        </p:sp>
      </p:grpSp>
      <p:sp>
        <p:nvSpPr>
          <p:cNvPr name="TextBox 11" id="11"/>
          <p:cNvSpPr txBox="true"/>
          <p:nvPr/>
        </p:nvSpPr>
        <p:spPr>
          <a:xfrm rot="0">
            <a:off x="2105025" y="1641475"/>
            <a:ext cx="14077950" cy="898525"/>
          </a:xfrm>
          <a:prstGeom prst="rect">
            <a:avLst/>
          </a:prstGeom>
        </p:spPr>
        <p:txBody>
          <a:bodyPr anchor="t" rtlCol="false" tIns="0" lIns="0" bIns="0" rIns="0">
            <a:spAutoFit/>
          </a:bodyPr>
          <a:lstStyle/>
          <a:p>
            <a:pPr algn="l" marL="0" indent="0" lvl="0">
              <a:lnSpc>
                <a:spcPts val="6649"/>
              </a:lnSpc>
              <a:spcBef>
                <a:spcPct val="0"/>
              </a:spcBef>
            </a:pPr>
            <a:r>
              <a:rPr lang="en-US" b="true" sz="6999" spc="-384" strike="noStrike" u="none">
                <a:solidFill>
                  <a:srgbClr val="2A2A2A"/>
                </a:solidFill>
                <a:latin typeface="Work Sans Semi-Bold"/>
                <a:ea typeface="Work Sans Semi-Bold"/>
                <a:cs typeface="Work Sans Semi-Bold"/>
                <a:sym typeface="Work Sans Semi-Bold"/>
              </a:rPr>
              <a:t>Impact and Benefits</a:t>
            </a:r>
          </a:p>
        </p:txBody>
      </p:sp>
      <p:grpSp>
        <p:nvGrpSpPr>
          <p:cNvPr name="Group 12" id="12"/>
          <p:cNvGrpSpPr/>
          <p:nvPr/>
        </p:nvGrpSpPr>
        <p:grpSpPr>
          <a:xfrm rot="0">
            <a:off x="6419850" y="3657600"/>
            <a:ext cx="5448300" cy="2828925"/>
            <a:chOff x="0" y="0"/>
            <a:chExt cx="1434943" cy="745067"/>
          </a:xfrm>
        </p:grpSpPr>
        <p:sp>
          <p:nvSpPr>
            <p:cNvPr name="Freeform 13" id="13"/>
            <p:cNvSpPr/>
            <p:nvPr/>
          </p:nvSpPr>
          <p:spPr>
            <a:xfrm flipH="false" flipV="false" rot="0">
              <a:off x="0" y="0"/>
              <a:ext cx="1434943" cy="745067"/>
            </a:xfrm>
            <a:custGeom>
              <a:avLst/>
              <a:gdLst/>
              <a:ahLst/>
              <a:cxnLst/>
              <a:rect r="r" b="b" t="t" l="l"/>
              <a:pathLst>
                <a:path h="745067" w="1434943">
                  <a:moveTo>
                    <a:pt x="56839" y="0"/>
                  </a:moveTo>
                  <a:lnTo>
                    <a:pt x="1378104" y="0"/>
                  </a:lnTo>
                  <a:cubicBezTo>
                    <a:pt x="1409495" y="0"/>
                    <a:pt x="1434943" y="25448"/>
                    <a:pt x="1434943" y="56839"/>
                  </a:cubicBezTo>
                  <a:lnTo>
                    <a:pt x="1434943" y="688228"/>
                  </a:lnTo>
                  <a:cubicBezTo>
                    <a:pt x="1434943" y="719619"/>
                    <a:pt x="1409495" y="745067"/>
                    <a:pt x="1378104" y="745067"/>
                  </a:cubicBezTo>
                  <a:lnTo>
                    <a:pt x="56839" y="745067"/>
                  </a:lnTo>
                  <a:cubicBezTo>
                    <a:pt x="25448" y="745067"/>
                    <a:pt x="0" y="719619"/>
                    <a:pt x="0" y="688228"/>
                  </a:cubicBezTo>
                  <a:lnTo>
                    <a:pt x="0" y="56839"/>
                  </a:lnTo>
                  <a:cubicBezTo>
                    <a:pt x="0" y="25448"/>
                    <a:pt x="25448" y="0"/>
                    <a:pt x="56839" y="0"/>
                  </a:cubicBezTo>
                  <a:close/>
                </a:path>
              </a:pathLst>
            </a:custGeom>
            <a:solidFill>
              <a:srgbClr val="A6CEE3"/>
            </a:solidFill>
          </p:spPr>
        </p:sp>
        <p:sp>
          <p:nvSpPr>
            <p:cNvPr name="TextBox 14" id="14"/>
            <p:cNvSpPr txBox="true"/>
            <p:nvPr/>
          </p:nvSpPr>
          <p:spPr>
            <a:xfrm>
              <a:off x="0" y="-57150"/>
              <a:ext cx="1434943" cy="802217"/>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6419850" y="6791325"/>
            <a:ext cx="5448300" cy="2828925"/>
            <a:chOff x="0" y="0"/>
            <a:chExt cx="1434943" cy="745067"/>
          </a:xfrm>
        </p:grpSpPr>
        <p:sp>
          <p:nvSpPr>
            <p:cNvPr name="Freeform 16" id="16"/>
            <p:cNvSpPr/>
            <p:nvPr/>
          </p:nvSpPr>
          <p:spPr>
            <a:xfrm flipH="false" flipV="false" rot="0">
              <a:off x="0" y="0"/>
              <a:ext cx="1434943" cy="745067"/>
            </a:xfrm>
            <a:custGeom>
              <a:avLst/>
              <a:gdLst/>
              <a:ahLst/>
              <a:cxnLst/>
              <a:rect r="r" b="b" t="t" l="l"/>
              <a:pathLst>
                <a:path h="745067" w="1434943">
                  <a:moveTo>
                    <a:pt x="56839" y="0"/>
                  </a:moveTo>
                  <a:lnTo>
                    <a:pt x="1378104" y="0"/>
                  </a:lnTo>
                  <a:cubicBezTo>
                    <a:pt x="1409495" y="0"/>
                    <a:pt x="1434943" y="25448"/>
                    <a:pt x="1434943" y="56839"/>
                  </a:cubicBezTo>
                  <a:lnTo>
                    <a:pt x="1434943" y="688228"/>
                  </a:lnTo>
                  <a:cubicBezTo>
                    <a:pt x="1434943" y="719619"/>
                    <a:pt x="1409495" y="745067"/>
                    <a:pt x="1378104" y="745067"/>
                  </a:cubicBezTo>
                  <a:lnTo>
                    <a:pt x="56839" y="745067"/>
                  </a:lnTo>
                  <a:cubicBezTo>
                    <a:pt x="25448" y="745067"/>
                    <a:pt x="0" y="719619"/>
                    <a:pt x="0" y="688228"/>
                  </a:cubicBezTo>
                  <a:lnTo>
                    <a:pt x="0" y="56839"/>
                  </a:lnTo>
                  <a:cubicBezTo>
                    <a:pt x="0" y="25448"/>
                    <a:pt x="25448" y="0"/>
                    <a:pt x="56839" y="0"/>
                  </a:cubicBezTo>
                  <a:close/>
                </a:path>
              </a:pathLst>
            </a:custGeom>
            <a:solidFill>
              <a:srgbClr val="A6CEE3"/>
            </a:solidFill>
          </p:spPr>
        </p:sp>
        <p:sp>
          <p:nvSpPr>
            <p:cNvPr name="TextBox 17" id="17"/>
            <p:cNvSpPr txBox="true"/>
            <p:nvPr/>
          </p:nvSpPr>
          <p:spPr>
            <a:xfrm>
              <a:off x="0" y="-57150"/>
              <a:ext cx="1434943" cy="802217"/>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7858125" y="4248150"/>
            <a:ext cx="3530082" cy="1519343"/>
            <a:chOff x="0" y="0"/>
            <a:chExt cx="4706777" cy="2025790"/>
          </a:xfrm>
        </p:grpSpPr>
        <p:sp>
          <p:nvSpPr>
            <p:cNvPr name="TextBox 19" id="19"/>
            <p:cNvSpPr txBox="true"/>
            <p:nvPr/>
          </p:nvSpPr>
          <p:spPr>
            <a:xfrm rot="0">
              <a:off x="0" y="-9525"/>
              <a:ext cx="4706777" cy="1177925"/>
            </a:xfrm>
            <a:prstGeom prst="rect">
              <a:avLst/>
            </a:prstGeom>
          </p:spPr>
          <p:txBody>
            <a:bodyPr anchor="t" rtlCol="false" tIns="0" lIns="0" bIns="0" rIns="0">
              <a:spAutoFit/>
            </a:bodyPr>
            <a:lstStyle/>
            <a:p>
              <a:pPr algn="l" marL="0" indent="0" lvl="0">
                <a:lnSpc>
                  <a:spcPts val="3510"/>
                </a:lnSpc>
                <a:spcBef>
                  <a:spcPct val="0"/>
                </a:spcBef>
              </a:pPr>
              <a:r>
                <a:rPr lang="en-US" b="true" sz="2925" spc="-160" strike="noStrike" u="none">
                  <a:solidFill>
                    <a:srgbClr val="606060"/>
                  </a:solidFill>
                  <a:latin typeface="Work Sans Bold"/>
                  <a:ea typeface="Work Sans Bold"/>
                  <a:cs typeface="Work Sans Bold"/>
                  <a:sym typeface="Work Sans Bold"/>
                </a:rPr>
                <a:t>Enhanced Awareness of Programs</a:t>
              </a:r>
            </a:p>
          </p:txBody>
        </p:sp>
        <p:sp>
          <p:nvSpPr>
            <p:cNvPr name="TextBox 20" id="20"/>
            <p:cNvSpPr txBox="true"/>
            <p:nvPr/>
          </p:nvSpPr>
          <p:spPr>
            <a:xfrm rot="0">
              <a:off x="0" y="1406665"/>
              <a:ext cx="4706777" cy="619125"/>
            </a:xfrm>
            <a:prstGeom prst="rect">
              <a:avLst/>
            </a:prstGeom>
          </p:spPr>
          <p:txBody>
            <a:bodyPr anchor="t" rtlCol="false" tIns="0" lIns="0" bIns="0" rIns="0">
              <a:spAutoFit/>
            </a:bodyPr>
            <a:lstStyle/>
            <a:p>
              <a:pPr algn="l" marL="0" indent="0" lvl="0">
                <a:lnSpc>
                  <a:spcPts val="1865"/>
                </a:lnSpc>
              </a:pPr>
              <a:r>
                <a:rPr lang="en-US" sz="1554" spc="-85">
                  <a:solidFill>
                    <a:srgbClr val="2A2A2A"/>
                  </a:solidFill>
                  <a:latin typeface="Work Sans"/>
                  <a:ea typeface="Work Sans"/>
                  <a:cs typeface="Work Sans"/>
                  <a:sym typeface="Work Sans"/>
                </a:rPr>
                <a:t>Improved program utilization among underserved populations significantly.</a:t>
              </a:r>
            </a:p>
          </p:txBody>
        </p:sp>
      </p:grpSp>
      <p:grpSp>
        <p:nvGrpSpPr>
          <p:cNvPr name="Group 21" id="21"/>
          <p:cNvGrpSpPr/>
          <p:nvPr/>
        </p:nvGrpSpPr>
        <p:grpSpPr>
          <a:xfrm rot="0">
            <a:off x="7858125" y="7381875"/>
            <a:ext cx="3530082" cy="1519343"/>
            <a:chOff x="0" y="0"/>
            <a:chExt cx="4706777" cy="2025790"/>
          </a:xfrm>
        </p:grpSpPr>
        <p:sp>
          <p:nvSpPr>
            <p:cNvPr name="TextBox 22" id="22"/>
            <p:cNvSpPr txBox="true"/>
            <p:nvPr/>
          </p:nvSpPr>
          <p:spPr>
            <a:xfrm rot="0">
              <a:off x="0" y="-9525"/>
              <a:ext cx="4706777" cy="1177925"/>
            </a:xfrm>
            <a:prstGeom prst="rect">
              <a:avLst/>
            </a:prstGeom>
          </p:spPr>
          <p:txBody>
            <a:bodyPr anchor="t" rtlCol="false" tIns="0" lIns="0" bIns="0" rIns="0">
              <a:spAutoFit/>
            </a:bodyPr>
            <a:lstStyle/>
            <a:p>
              <a:pPr algn="l" marL="0" indent="0" lvl="0">
                <a:lnSpc>
                  <a:spcPts val="3510"/>
                </a:lnSpc>
                <a:spcBef>
                  <a:spcPct val="0"/>
                </a:spcBef>
              </a:pPr>
              <a:r>
                <a:rPr lang="en-US" b="true" sz="2925" spc="-160" strike="noStrike" u="none">
                  <a:solidFill>
                    <a:srgbClr val="606060"/>
                  </a:solidFill>
                  <a:latin typeface="Work Sans Bold"/>
                  <a:ea typeface="Work Sans Bold"/>
                  <a:cs typeface="Work Sans Bold"/>
                  <a:sym typeface="Work Sans Bold"/>
                </a:rPr>
                <a:t>Better Learning Outcomes</a:t>
              </a:r>
            </a:p>
          </p:txBody>
        </p:sp>
        <p:sp>
          <p:nvSpPr>
            <p:cNvPr name="TextBox 23" id="23"/>
            <p:cNvSpPr txBox="true"/>
            <p:nvPr/>
          </p:nvSpPr>
          <p:spPr>
            <a:xfrm rot="0">
              <a:off x="0" y="1406665"/>
              <a:ext cx="4706777" cy="619125"/>
            </a:xfrm>
            <a:prstGeom prst="rect">
              <a:avLst/>
            </a:prstGeom>
          </p:spPr>
          <p:txBody>
            <a:bodyPr anchor="t" rtlCol="false" tIns="0" lIns="0" bIns="0" rIns="0">
              <a:spAutoFit/>
            </a:bodyPr>
            <a:lstStyle/>
            <a:p>
              <a:pPr algn="l" marL="0" indent="0" lvl="0">
                <a:lnSpc>
                  <a:spcPts val="1865"/>
                </a:lnSpc>
              </a:pPr>
              <a:r>
                <a:rPr lang="en-US" sz="1554" spc="-85">
                  <a:solidFill>
                    <a:srgbClr val="2A2A2A"/>
                  </a:solidFill>
                  <a:latin typeface="Work Sans"/>
                  <a:ea typeface="Work Sans"/>
                  <a:cs typeface="Work Sans"/>
                  <a:sym typeface="Work Sans"/>
                </a:rPr>
                <a:t>Enhanced educational support improves student performance and engagement.</a:t>
              </a:r>
            </a:p>
          </p:txBody>
        </p:sp>
      </p:grpSp>
      <p:sp>
        <p:nvSpPr>
          <p:cNvPr name="Freeform 24" id="24"/>
          <p:cNvSpPr/>
          <p:nvPr/>
        </p:nvSpPr>
        <p:spPr>
          <a:xfrm flipH="false" flipV="false" rot="0">
            <a:off x="7092791"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7092791" y="7381875"/>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6" id="26"/>
          <p:cNvGrpSpPr/>
          <p:nvPr/>
        </p:nvGrpSpPr>
        <p:grpSpPr>
          <a:xfrm rot="0">
            <a:off x="12172950" y="3657600"/>
            <a:ext cx="5448300" cy="2828925"/>
            <a:chOff x="0" y="0"/>
            <a:chExt cx="1434943" cy="745067"/>
          </a:xfrm>
        </p:grpSpPr>
        <p:sp>
          <p:nvSpPr>
            <p:cNvPr name="Freeform 27" id="27"/>
            <p:cNvSpPr/>
            <p:nvPr/>
          </p:nvSpPr>
          <p:spPr>
            <a:xfrm flipH="false" flipV="false" rot="0">
              <a:off x="0" y="0"/>
              <a:ext cx="1434943" cy="745067"/>
            </a:xfrm>
            <a:custGeom>
              <a:avLst/>
              <a:gdLst/>
              <a:ahLst/>
              <a:cxnLst/>
              <a:rect r="r" b="b" t="t" l="l"/>
              <a:pathLst>
                <a:path h="745067" w="1434943">
                  <a:moveTo>
                    <a:pt x="56839" y="0"/>
                  </a:moveTo>
                  <a:lnTo>
                    <a:pt x="1378104" y="0"/>
                  </a:lnTo>
                  <a:cubicBezTo>
                    <a:pt x="1409495" y="0"/>
                    <a:pt x="1434943" y="25448"/>
                    <a:pt x="1434943" y="56839"/>
                  </a:cubicBezTo>
                  <a:lnTo>
                    <a:pt x="1434943" y="688228"/>
                  </a:lnTo>
                  <a:cubicBezTo>
                    <a:pt x="1434943" y="719619"/>
                    <a:pt x="1409495" y="745067"/>
                    <a:pt x="1378104" y="745067"/>
                  </a:cubicBezTo>
                  <a:lnTo>
                    <a:pt x="56839" y="745067"/>
                  </a:lnTo>
                  <a:cubicBezTo>
                    <a:pt x="25448" y="745067"/>
                    <a:pt x="0" y="719619"/>
                    <a:pt x="0" y="688228"/>
                  </a:cubicBezTo>
                  <a:lnTo>
                    <a:pt x="0" y="56839"/>
                  </a:lnTo>
                  <a:cubicBezTo>
                    <a:pt x="0" y="25448"/>
                    <a:pt x="25448" y="0"/>
                    <a:pt x="56839" y="0"/>
                  </a:cubicBezTo>
                  <a:close/>
                </a:path>
              </a:pathLst>
            </a:custGeom>
            <a:solidFill>
              <a:srgbClr val="A6CEE3"/>
            </a:solidFill>
          </p:spPr>
        </p:sp>
        <p:sp>
          <p:nvSpPr>
            <p:cNvPr name="TextBox 28" id="28"/>
            <p:cNvSpPr txBox="true"/>
            <p:nvPr/>
          </p:nvSpPr>
          <p:spPr>
            <a:xfrm>
              <a:off x="0" y="-57150"/>
              <a:ext cx="1434943" cy="802217"/>
            </a:xfrm>
            <a:prstGeom prst="rect">
              <a:avLst/>
            </a:prstGeom>
          </p:spPr>
          <p:txBody>
            <a:bodyPr anchor="ctr" rtlCol="false" tIns="50800" lIns="50800" bIns="50800" rIns="50800"/>
            <a:lstStyle/>
            <a:p>
              <a:pPr algn="ctr">
                <a:lnSpc>
                  <a:spcPts val="3359"/>
                </a:lnSpc>
              </a:pPr>
            </a:p>
          </p:txBody>
        </p:sp>
      </p:grpSp>
      <p:grpSp>
        <p:nvGrpSpPr>
          <p:cNvPr name="Group 29" id="29"/>
          <p:cNvGrpSpPr/>
          <p:nvPr/>
        </p:nvGrpSpPr>
        <p:grpSpPr>
          <a:xfrm rot="0">
            <a:off x="12172950" y="6791325"/>
            <a:ext cx="5448300" cy="2828925"/>
            <a:chOff x="0" y="0"/>
            <a:chExt cx="1434943" cy="745067"/>
          </a:xfrm>
        </p:grpSpPr>
        <p:sp>
          <p:nvSpPr>
            <p:cNvPr name="Freeform 30" id="30"/>
            <p:cNvSpPr/>
            <p:nvPr/>
          </p:nvSpPr>
          <p:spPr>
            <a:xfrm flipH="false" flipV="false" rot="0">
              <a:off x="0" y="0"/>
              <a:ext cx="1434943" cy="745067"/>
            </a:xfrm>
            <a:custGeom>
              <a:avLst/>
              <a:gdLst/>
              <a:ahLst/>
              <a:cxnLst/>
              <a:rect r="r" b="b" t="t" l="l"/>
              <a:pathLst>
                <a:path h="745067" w="1434943">
                  <a:moveTo>
                    <a:pt x="56839" y="0"/>
                  </a:moveTo>
                  <a:lnTo>
                    <a:pt x="1378104" y="0"/>
                  </a:lnTo>
                  <a:cubicBezTo>
                    <a:pt x="1409495" y="0"/>
                    <a:pt x="1434943" y="25448"/>
                    <a:pt x="1434943" y="56839"/>
                  </a:cubicBezTo>
                  <a:lnTo>
                    <a:pt x="1434943" y="688228"/>
                  </a:lnTo>
                  <a:cubicBezTo>
                    <a:pt x="1434943" y="719619"/>
                    <a:pt x="1409495" y="745067"/>
                    <a:pt x="1378104" y="745067"/>
                  </a:cubicBezTo>
                  <a:lnTo>
                    <a:pt x="56839" y="745067"/>
                  </a:lnTo>
                  <a:cubicBezTo>
                    <a:pt x="25448" y="745067"/>
                    <a:pt x="0" y="719619"/>
                    <a:pt x="0" y="688228"/>
                  </a:cubicBezTo>
                  <a:lnTo>
                    <a:pt x="0" y="56839"/>
                  </a:lnTo>
                  <a:cubicBezTo>
                    <a:pt x="0" y="25448"/>
                    <a:pt x="25448" y="0"/>
                    <a:pt x="56839" y="0"/>
                  </a:cubicBezTo>
                  <a:close/>
                </a:path>
              </a:pathLst>
            </a:custGeom>
            <a:solidFill>
              <a:srgbClr val="A6CEE3"/>
            </a:solidFill>
          </p:spPr>
        </p:sp>
        <p:sp>
          <p:nvSpPr>
            <p:cNvPr name="TextBox 31" id="31"/>
            <p:cNvSpPr txBox="true"/>
            <p:nvPr/>
          </p:nvSpPr>
          <p:spPr>
            <a:xfrm>
              <a:off x="0" y="-57150"/>
              <a:ext cx="1434943" cy="802217"/>
            </a:xfrm>
            <a:prstGeom prst="rect">
              <a:avLst/>
            </a:prstGeom>
          </p:spPr>
          <p:txBody>
            <a:bodyPr anchor="ctr" rtlCol="false" tIns="50800" lIns="50800" bIns="50800" rIns="50800"/>
            <a:lstStyle/>
            <a:p>
              <a:pPr algn="ctr">
                <a:lnSpc>
                  <a:spcPts val="3359"/>
                </a:lnSpc>
              </a:pPr>
            </a:p>
          </p:txBody>
        </p:sp>
      </p:grpSp>
      <p:grpSp>
        <p:nvGrpSpPr>
          <p:cNvPr name="Group 32" id="32"/>
          <p:cNvGrpSpPr/>
          <p:nvPr/>
        </p:nvGrpSpPr>
        <p:grpSpPr>
          <a:xfrm rot="0">
            <a:off x="13611225" y="4248150"/>
            <a:ext cx="3405249" cy="1519343"/>
            <a:chOff x="0" y="0"/>
            <a:chExt cx="4540332" cy="2025790"/>
          </a:xfrm>
        </p:grpSpPr>
        <p:sp>
          <p:nvSpPr>
            <p:cNvPr name="TextBox 33" id="33"/>
            <p:cNvSpPr txBox="true"/>
            <p:nvPr/>
          </p:nvSpPr>
          <p:spPr>
            <a:xfrm rot="0">
              <a:off x="0" y="-9525"/>
              <a:ext cx="4540332" cy="1177925"/>
            </a:xfrm>
            <a:prstGeom prst="rect">
              <a:avLst/>
            </a:prstGeom>
          </p:spPr>
          <p:txBody>
            <a:bodyPr anchor="t" rtlCol="false" tIns="0" lIns="0" bIns="0" rIns="0">
              <a:spAutoFit/>
            </a:bodyPr>
            <a:lstStyle/>
            <a:p>
              <a:pPr algn="l" marL="0" indent="0" lvl="0">
                <a:lnSpc>
                  <a:spcPts val="3510"/>
                </a:lnSpc>
                <a:spcBef>
                  <a:spcPct val="0"/>
                </a:spcBef>
              </a:pPr>
              <a:r>
                <a:rPr lang="en-US" b="true" sz="2925" spc="-160" strike="noStrike" u="none">
                  <a:solidFill>
                    <a:srgbClr val="606060"/>
                  </a:solidFill>
                  <a:latin typeface="Work Sans Bold"/>
                  <a:ea typeface="Work Sans Bold"/>
                  <a:cs typeface="Work Sans Bold"/>
                  <a:sym typeface="Work Sans Bold"/>
                </a:rPr>
                <a:t>Empowered Small Business Growth</a:t>
              </a:r>
            </a:p>
          </p:txBody>
        </p:sp>
        <p:sp>
          <p:nvSpPr>
            <p:cNvPr name="TextBox 34" id="34"/>
            <p:cNvSpPr txBox="true"/>
            <p:nvPr/>
          </p:nvSpPr>
          <p:spPr>
            <a:xfrm rot="0">
              <a:off x="0" y="1406665"/>
              <a:ext cx="4540332" cy="619125"/>
            </a:xfrm>
            <a:prstGeom prst="rect">
              <a:avLst/>
            </a:prstGeom>
          </p:spPr>
          <p:txBody>
            <a:bodyPr anchor="t" rtlCol="false" tIns="0" lIns="0" bIns="0" rIns="0">
              <a:spAutoFit/>
            </a:bodyPr>
            <a:lstStyle/>
            <a:p>
              <a:pPr algn="l" marL="0" indent="0" lvl="0">
                <a:lnSpc>
                  <a:spcPts val="1865"/>
                </a:lnSpc>
              </a:pPr>
              <a:r>
                <a:rPr lang="en-US" sz="1554" spc="-85">
                  <a:solidFill>
                    <a:srgbClr val="2A2A2A"/>
                  </a:solidFill>
                  <a:latin typeface="Work Sans"/>
                  <a:ea typeface="Work Sans"/>
                  <a:cs typeface="Work Sans"/>
                  <a:sym typeface="Work Sans"/>
                </a:rPr>
                <a:t>Smarter decisions lead to increased business success rates.</a:t>
              </a:r>
            </a:p>
          </p:txBody>
        </p:sp>
      </p:grpSp>
      <p:grpSp>
        <p:nvGrpSpPr>
          <p:cNvPr name="Group 35" id="35"/>
          <p:cNvGrpSpPr/>
          <p:nvPr/>
        </p:nvGrpSpPr>
        <p:grpSpPr>
          <a:xfrm rot="0">
            <a:off x="13611225" y="7381875"/>
            <a:ext cx="3405249" cy="1519343"/>
            <a:chOff x="0" y="0"/>
            <a:chExt cx="4540332" cy="2025790"/>
          </a:xfrm>
        </p:grpSpPr>
        <p:sp>
          <p:nvSpPr>
            <p:cNvPr name="TextBox 36" id="36"/>
            <p:cNvSpPr txBox="true"/>
            <p:nvPr/>
          </p:nvSpPr>
          <p:spPr>
            <a:xfrm rot="0">
              <a:off x="0" y="-9525"/>
              <a:ext cx="4540332" cy="1177925"/>
            </a:xfrm>
            <a:prstGeom prst="rect">
              <a:avLst/>
            </a:prstGeom>
          </p:spPr>
          <p:txBody>
            <a:bodyPr anchor="t" rtlCol="false" tIns="0" lIns="0" bIns="0" rIns="0">
              <a:spAutoFit/>
            </a:bodyPr>
            <a:lstStyle/>
            <a:p>
              <a:pPr algn="l" marL="0" indent="0" lvl="0">
                <a:lnSpc>
                  <a:spcPts val="3510"/>
                </a:lnSpc>
                <a:spcBef>
                  <a:spcPct val="0"/>
                </a:spcBef>
              </a:pPr>
              <a:r>
                <a:rPr lang="en-US" b="true" sz="2925" spc="-160" strike="noStrike" u="none">
                  <a:solidFill>
                    <a:srgbClr val="606060"/>
                  </a:solidFill>
                  <a:latin typeface="Work Sans Bold"/>
                  <a:ea typeface="Work Sans Bold"/>
                  <a:cs typeface="Work Sans Bold"/>
                  <a:sym typeface="Work Sans Bold"/>
                </a:rPr>
                <a:t>Promoting Digital Inclusion</a:t>
              </a:r>
            </a:p>
          </p:txBody>
        </p:sp>
        <p:sp>
          <p:nvSpPr>
            <p:cNvPr name="TextBox 37" id="37"/>
            <p:cNvSpPr txBox="true"/>
            <p:nvPr/>
          </p:nvSpPr>
          <p:spPr>
            <a:xfrm rot="0">
              <a:off x="0" y="1406665"/>
              <a:ext cx="4540332" cy="619125"/>
            </a:xfrm>
            <a:prstGeom prst="rect">
              <a:avLst/>
            </a:prstGeom>
          </p:spPr>
          <p:txBody>
            <a:bodyPr anchor="t" rtlCol="false" tIns="0" lIns="0" bIns="0" rIns="0">
              <a:spAutoFit/>
            </a:bodyPr>
            <a:lstStyle/>
            <a:p>
              <a:pPr algn="l" marL="0" indent="0" lvl="0">
                <a:lnSpc>
                  <a:spcPts val="1865"/>
                </a:lnSpc>
              </a:pPr>
              <a:r>
                <a:rPr lang="en-US" sz="1554" spc="-85">
                  <a:solidFill>
                    <a:srgbClr val="2A2A2A"/>
                  </a:solidFill>
                  <a:latin typeface="Work Sans"/>
                  <a:ea typeface="Work Sans"/>
                  <a:cs typeface="Work Sans"/>
                  <a:sym typeface="Work Sans"/>
                </a:rPr>
                <a:t>Drives digital inclusion among rural and urban populations.</a:t>
              </a:r>
            </a:p>
          </p:txBody>
        </p:sp>
      </p:grpSp>
      <p:sp>
        <p:nvSpPr>
          <p:cNvPr name="Freeform 38" id="38"/>
          <p:cNvSpPr/>
          <p:nvPr/>
        </p:nvSpPr>
        <p:spPr>
          <a:xfrm flipH="false" flipV="false" rot="0">
            <a:off x="12825820"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9" id="39"/>
          <p:cNvSpPr/>
          <p:nvPr/>
        </p:nvSpPr>
        <p:spPr>
          <a:xfrm flipH="false" flipV="false" rot="0">
            <a:off x="12825820" y="7381875"/>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686050"/>
            <a:chOff x="0" y="0"/>
            <a:chExt cx="4987154" cy="790100"/>
          </a:xfrm>
        </p:grpSpPr>
        <p:sp>
          <p:nvSpPr>
            <p:cNvPr name="Freeform 3" id="3"/>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1F77B4"/>
            </a:solidFill>
          </p:spPr>
        </p:sp>
      </p:grpSp>
      <p:sp>
        <p:nvSpPr>
          <p:cNvPr name="TextBox 4" id="4"/>
          <p:cNvSpPr txBox="true"/>
          <p:nvPr/>
        </p:nvSpPr>
        <p:spPr>
          <a:xfrm rot="0">
            <a:off x="2105025" y="1641475"/>
            <a:ext cx="14077950" cy="898525"/>
          </a:xfrm>
          <a:prstGeom prst="rect">
            <a:avLst/>
          </a:prstGeom>
        </p:spPr>
        <p:txBody>
          <a:bodyPr anchor="t" rtlCol="false" tIns="0" lIns="0" bIns="0" rIns="0">
            <a:spAutoFit/>
          </a:bodyPr>
          <a:lstStyle/>
          <a:p>
            <a:pPr algn="l" marL="0" indent="0" lvl="0">
              <a:lnSpc>
                <a:spcPts val="6649"/>
              </a:lnSpc>
            </a:pPr>
            <a:r>
              <a:rPr lang="en-US" b="true" sz="6999" spc="-384">
                <a:solidFill>
                  <a:srgbClr val="2A2A2A"/>
                </a:solidFill>
                <a:latin typeface="Work Sans Semi-Bold"/>
                <a:ea typeface="Work Sans Semi-Bold"/>
                <a:cs typeface="Work Sans Semi-Bold"/>
                <a:sym typeface="Work Sans Semi-Bold"/>
              </a:rPr>
              <a:t>Implementation Roadmap</a:t>
            </a:r>
          </a:p>
        </p:txBody>
      </p:sp>
      <p:grpSp>
        <p:nvGrpSpPr>
          <p:cNvPr name="Group 5" id="5"/>
          <p:cNvGrpSpPr/>
          <p:nvPr/>
        </p:nvGrpSpPr>
        <p:grpSpPr>
          <a:xfrm rot="0">
            <a:off x="666750" y="3657600"/>
            <a:ext cx="16954500" cy="5962650"/>
            <a:chOff x="0" y="0"/>
            <a:chExt cx="4465383" cy="1570410"/>
          </a:xfrm>
        </p:grpSpPr>
        <p:sp>
          <p:nvSpPr>
            <p:cNvPr name="Freeform 6" id="6"/>
            <p:cNvSpPr/>
            <p:nvPr/>
          </p:nvSpPr>
          <p:spPr>
            <a:xfrm flipH="false" flipV="false" rot="0">
              <a:off x="0" y="0"/>
              <a:ext cx="4465383" cy="1570410"/>
            </a:xfrm>
            <a:custGeom>
              <a:avLst/>
              <a:gdLst/>
              <a:ahLst/>
              <a:cxnLst/>
              <a:rect r="r" b="b" t="t" l="l"/>
              <a:pathLst>
                <a:path h="1570410" w="4465383">
                  <a:moveTo>
                    <a:pt x="18265" y="0"/>
                  </a:moveTo>
                  <a:lnTo>
                    <a:pt x="4447118" y="0"/>
                  </a:lnTo>
                  <a:cubicBezTo>
                    <a:pt x="4457205" y="0"/>
                    <a:pt x="4465383" y="8178"/>
                    <a:pt x="4465383" y="18265"/>
                  </a:cubicBezTo>
                  <a:lnTo>
                    <a:pt x="4465383" y="1552145"/>
                  </a:lnTo>
                  <a:cubicBezTo>
                    <a:pt x="4465383" y="1562232"/>
                    <a:pt x="4457205" y="1570410"/>
                    <a:pt x="4447118" y="1570410"/>
                  </a:cubicBezTo>
                  <a:lnTo>
                    <a:pt x="18265" y="1570410"/>
                  </a:lnTo>
                  <a:cubicBezTo>
                    <a:pt x="8178" y="1570410"/>
                    <a:pt x="0" y="1562232"/>
                    <a:pt x="0" y="1552145"/>
                  </a:cubicBezTo>
                  <a:lnTo>
                    <a:pt x="0" y="18265"/>
                  </a:lnTo>
                  <a:cubicBezTo>
                    <a:pt x="0" y="8178"/>
                    <a:pt x="8178" y="0"/>
                    <a:pt x="18265" y="0"/>
                  </a:cubicBezTo>
                  <a:close/>
                </a:path>
              </a:pathLst>
            </a:custGeom>
            <a:solidFill>
              <a:srgbClr val="A6CEE3"/>
            </a:solidFill>
          </p:spPr>
        </p:sp>
        <p:sp>
          <p:nvSpPr>
            <p:cNvPr name="TextBox 7" id="7"/>
            <p:cNvSpPr txBox="true"/>
            <p:nvPr/>
          </p:nvSpPr>
          <p:spPr>
            <a:xfrm>
              <a:off x="0" y="-57150"/>
              <a:ext cx="4465383" cy="1627560"/>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2105025" y="6038850"/>
            <a:ext cx="2571750" cy="1489329"/>
            <a:chOff x="0" y="0"/>
            <a:chExt cx="3429000" cy="1985772"/>
          </a:xfrm>
        </p:grpSpPr>
        <p:sp>
          <p:nvSpPr>
            <p:cNvPr name="TextBox 9" id="9"/>
            <p:cNvSpPr txBox="true"/>
            <p:nvPr/>
          </p:nvSpPr>
          <p:spPr>
            <a:xfrm rot="0">
              <a:off x="0" y="-9525"/>
              <a:ext cx="3429000" cy="708025"/>
            </a:xfrm>
            <a:prstGeom prst="rect">
              <a:avLst/>
            </a:prstGeom>
          </p:spPr>
          <p:txBody>
            <a:bodyPr anchor="t" rtlCol="false" tIns="0" lIns="0" bIns="0" rIns="0">
              <a:spAutoFit/>
            </a:bodyPr>
            <a:lstStyle/>
            <a:p>
              <a:pPr algn="l" marL="0" indent="0" lvl="0">
                <a:lnSpc>
                  <a:spcPts val="4199"/>
                </a:lnSpc>
                <a:spcBef>
                  <a:spcPct val="0"/>
                </a:spcBef>
              </a:pPr>
              <a:r>
                <a:rPr lang="en-US" b="true" sz="3499" spc="-192">
                  <a:solidFill>
                    <a:srgbClr val="606060"/>
                  </a:solidFill>
                  <a:latin typeface="Work Sans Bold"/>
                  <a:ea typeface="Work Sans Bold"/>
                  <a:cs typeface="Work Sans Bold"/>
                  <a:sym typeface="Work Sans Bold"/>
                </a:rPr>
                <a:t>2026</a:t>
              </a:r>
            </a:p>
          </p:txBody>
        </p:sp>
        <p:sp>
          <p:nvSpPr>
            <p:cNvPr name="TextBox 10" id="10"/>
            <p:cNvSpPr txBox="true"/>
            <p:nvPr/>
          </p:nvSpPr>
          <p:spPr>
            <a:xfrm rot="0">
              <a:off x="0" y="1138047"/>
              <a:ext cx="3429000" cy="847725"/>
            </a:xfrm>
            <a:prstGeom prst="rect">
              <a:avLst/>
            </a:prstGeom>
          </p:spPr>
          <p:txBody>
            <a:bodyPr anchor="t" rtlCol="false" tIns="0" lIns="0" bIns="0" rIns="0">
              <a:spAutoFit/>
            </a:bodyPr>
            <a:lstStyle/>
            <a:p>
              <a:pPr algn="l" marL="0" indent="0" lvl="0">
                <a:lnSpc>
                  <a:spcPts val="2520"/>
                </a:lnSpc>
              </a:pPr>
              <a:r>
                <a:rPr lang="en-US" sz="2100" spc="-115">
                  <a:solidFill>
                    <a:srgbClr val="2A2A2A"/>
                  </a:solidFill>
                  <a:latin typeface="Work Sans"/>
                  <a:ea typeface="Work Sans"/>
                  <a:cs typeface="Work Sans"/>
                  <a:sym typeface="Work Sans"/>
                </a:rPr>
                <a:t>Research user needs extensively</a:t>
              </a:r>
            </a:p>
          </p:txBody>
        </p:sp>
      </p:grpSp>
      <p:grpSp>
        <p:nvGrpSpPr>
          <p:cNvPr name="Group 11" id="11"/>
          <p:cNvGrpSpPr/>
          <p:nvPr/>
        </p:nvGrpSpPr>
        <p:grpSpPr>
          <a:xfrm rot="0">
            <a:off x="5940425" y="6038850"/>
            <a:ext cx="2673350" cy="1489329"/>
            <a:chOff x="0" y="0"/>
            <a:chExt cx="3564467" cy="1985772"/>
          </a:xfrm>
        </p:grpSpPr>
        <p:sp>
          <p:nvSpPr>
            <p:cNvPr name="TextBox 12" id="12"/>
            <p:cNvSpPr txBox="true"/>
            <p:nvPr/>
          </p:nvSpPr>
          <p:spPr>
            <a:xfrm rot="0">
              <a:off x="0" y="-9525"/>
              <a:ext cx="3564467" cy="708025"/>
            </a:xfrm>
            <a:prstGeom prst="rect">
              <a:avLst/>
            </a:prstGeom>
          </p:spPr>
          <p:txBody>
            <a:bodyPr anchor="t" rtlCol="false" tIns="0" lIns="0" bIns="0" rIns="0">
              <a:spAutoFit/>
            </a:bodyPr>
            <a:lstStyle/>
            <a:p>
              <a:pPr algn="l" marL="0" indent="0" lvl="0">
                <a:lnSpc>
                  <a:spcPts val="4199"/>
                </a:lnSpc>
                <a:spcBef>
                  <a:spcPct val="0"/>
                </a:spcBef>
              </a:pPr>
              <a:r>
                <a:rPr lang="en-US" b="true" sz="3499" spc="-192">
                  <a:solidFill>
                    <a:srgbClr val="606060"/>
                  </a:solidFill>
                  <a:latin typeface="Work Sans Bold"/>
                  <a:ea typeface="Work Sans Bold"/>
                  <a:cs typeface="Work Sans Bold"/>
                  <a:sym typeface="Work Sans Bold"/>
                </a:rPr>
                <a:t>2027</a:t>
              </a:r>
            </a:p>
          </p:txBody>
        </p:sp>
        <p:sp>
          <p:nvSpPr>
            <p:cNvPr name="TextBox 13" id="13"/>
            <p:cNvSpPr txBox="true"/>
            <p:nvPr/>
          </p:nvSpPr>
          <p:spPr>
            <a:xfrm rot="0">
              <a:off x="0" y="1138047"/>
              <a:ext cx="3564467" cy="847725"/>
            </a:xfrm>
            <a:prstGeom prst="rect">
              <a:avLst/>
            </a:prstGeom>
          </p:spPr>
          <p:txBody>
            <a:bodyPr anchor="t" rtlCol="false" tIns="0" lIns="0" bIns="0" rIns="0">
              <a:spAutoFit/>
            </a:bodyPr>
            <a:lstStyle/>
            <a:p>
              <a:pPr algn="l" marL="0" indent="0" lvl="0">
                <a:lnSpc>
                  <a:spcPts val="2520"/>
                </a:lnSpc>
              </a:pPr>
              <a:r>
                <a:rPr lang="en-US" sz="2100" spc="-115">
                  <a:solidFill>
                    <a:srgbClr val="2A2A2A"/>
                  </a:solidFill>
                  <a:latin typeface="Work Sans"/>
                  <a:ea typeface="Work Sans"/>
                  <a:cs typeface="Work Sans"/>
                  <a:sym typeface="Work Sans"/>
                </a:rPr>
                <a:t>Build MVP with core features</a:t>
              </a:r>
            </a:p>
          </p:txBody>
        </p:sp>
      </p:grpSp>
      <p:grpSp>
        <p:nvGrpSpPr>
          <p:cNvPr name="Group 14" id="14"/>
          <p:cNvGrpSpPr/>
          <p:nvPr/>
        </p:nvGrpSpPr>
        <p:grpSpPr>
          <a:xfrm rot="0">
            <a:off x="13668375" y="6038850"/>
            <a:ext cx="2514600" cy="1489329"/>
            <a:chOff x="0" y="0"/>
            <a:chExt cx="3352800" cy="1985772"/>
          </a:xfrm>
        </p:grpSpPr>
        <p:sp>
          <p:nvSpPr>
            <p:cNvPr name="TextBox 15" id="15"/>
            <p:cNvSpPr txBox="true"/>
            <p:nvPr/>
          </p:nvSpPr>
          <p:spPr>
            <a:xfrm rot="0">
              <a:off x="0" y="-9525"/>
              <a:ext cx="3352800" cy="708025"/>
            </a:xfrm>
            <a:prstGeom prst="rect">
              <a:avLst/>
            </a:prstGeom>
          </p:spPr>
          <p:txBody>
            <a:bodyPr anchor="t" rtlCol="false" tIns="0" lIns="0" bIns="0" rIns="0">
              <a:spAutoFit/>
            </a:bodyPr>
            <a:lstStyle/>
            <a:p>
              <a:pPr algn="l" marL="0" indent="0" lvl="0">
                <a:lnSpc>
                  <a:spcPts val="4199"/>
                </a:lnSpc>
                <a:spcBef>
                  <a:spcPct val="0"/>
                </a:spcBef>
              </a:pPr>
              <a:r>
                <a:rPr lang="en-US" b="true" sz="3499" spc="-192">
                  <a:solidFill>
                    <a:srgbClr val="606060"/>
                  </a:solidFill>
                  <a:latin typeface="Work Sans Bold"/>
                  <a:ea typeface="Work Sans Bold"/>
                  <a:cs typeface="Work Sans Bold"/>
                  <a:sym typeface="Work Sans Bold"/>
                </a:rPr>
                <a:t>2029</a:t>
              </a:r>
            </a:p>
          </p:txBody>
        </p:sp>
        <p:sp>
          <p:nvSpPr>
            <p:cNvPr name="TextBox 16" id="16"/>
            <p:cNvSpPr txBox="true"/>
            <p:nvPr/>
          </p:nvSpPr>
          <p:spPr>
            <a:xfrm rot="0">
              <a:off x="0" y="1138047"/>
              <a:ext cx="3352800" cy="847725"/>
            </a:xfrm>
            <a:prstGeom prst="rect">
              <a:avLst/>
            </a:prstGeom>
          </p:spPr>
          <p:txBody>
            <a:bodyPr anchor="t" rtlCol="false" tIns="0" lIns="0" bIns="0" rIns="0">
              <a:spAutoFit/>
            </a:bodyPr>
            <a:lstStyle/>
            <a:p>
              <a:pPr algn="l" marL="0" indent="0" lvl="0">
                <a:lnSpc>
                  <a:spcPts val="2520"/>
                </a:lnSpc>
              </a:pPr>
              <a:r>
                <a:rPr lang="en-US" sz="2100" spc="-115">
                  <a:solidFill>
                    <a:srgbClr val="2A2A2A"/>
                  </a:solidFill>
                  <a:latin typeface="Work Sans"/>
                  <a:ea typeface="Work Sans"/>
                  <a:cs typeface="Work Sans"/>
                  <a:sym typeface="Work Sans"/>
                </a:rPr>
                <a:t>Nationwide rollout with partnerships</a:t>
              </a:r>
            </a:p>
          </p:txBody>
        </p:sp>
      </p:grpSp>
      <p:grpSp>
        <p:nvGrpSpPr>
          <p:cNvPr name="Group 17" id="17"/>
          <p:cNvGrpSpPr/>
          <p:nvPr/>
        </p:nvGrpSpPr>
        <p:grpSpPr>
          <a:xfrm rot="0">
            <a:off x="9775825" y="6038850"/>
            <a:ext cx="2774950" cy="1489329"/>
            <a:chOff x="0" y="0"/>
            <a:chExt cx="3699933" cy="1985772"/>
          </a:xfrm>
        </p:grpSpPr>
        <p:sp>
          <p:nvSpPr>
            <p:cNvPr name="TextBox 18" id="18"/>
            <p:cNvSpPr txBox="true"/>
            <p:nvPr/>
          </p:nvSpPr>
          <p:spPr>
            <a:xfrm rot="0">
              <a:off x="0" y="-9525"/>
              <a:ext cx="3699933" cy="708025"/>
            </a:xfrm>
            <a:prstGeom prst="rect">
              <a:avLst/>
            </a:prstGeom>
          </p:spPr>
          <p:txBody>
            <a:bodyPr anchor="t" rtlCol="false" tIns="0" lIns="0" bIns="0" rIns="0">
              <a:spAutoFit/>
            </a:bodyPr>
            <a:lstStyle/>
            <a:p>
              <a:pPr algn="l" marL="0" indent="0" lvl="0">
                <a:lnSpc>
                  <a:spcPts val="4199"/>
                </a:lnSpc>
                <a:spcBef>
                  <a:spcPct val="0"/>
                </a:spcBef>
              </a:pPr>
              <a:r>
                <a:rPr lang="en-US" b="true" sz="3499" spc="-192">
                  <a:solidFill>
                    <a:srgbClr val="606060"/>
                  </a:solidFill>
                  <a:latin typeface="Work Sans Bold"/>
                  <a:ea typeface="Work Sans Bold"/>
                  <a:cs typeface="Work Sans Bold"/>
                  <a:sym typeface="Work Sans Bold"/>
                </a:rPr>
                <a:t>2028</a:t>
              </a:r>
            </a:p>
          </p:txBody>
        </p:sp>
        <p:sp>
          <p:nvSpPr>
            <p:cNvPr name="TextBox 19" id="19"/>
            <p:cNvSpPr txBox="true"/>
            <p:nvPr/>
          </p:nvSpPr>
          <p:spPr>
            <a:xfrm rot="0">
              <a:off x="0" y="1138047"/>
              <a:ext cx="3699933" cy="847725"/>
            </a:xfrm>
            <a:prstGeom prst="rect">
              <a:avLst/>
            </a:prstGeom>
          </p:spPr>
          <p:txBody>
            <a:bodyPr anchor="t" rtlCol="false" tIns="0" lIns="0" bIns="0" rIns="0">
              <a:spAutoFit/>
            </a:bodyPr>
            <a:lstStyle/>
            <a:p>
              <a:pPr algn="l" marL="0" indent="0" lvl="0">
                <a:lnSpc>
                  <a:spcPts val="2520"/>
                </a:lnSpc>
              </a:pPr>
              <a:r>
                <a:rPr lang="en-US" sz="2100" spc="-115">
                  <a:solidFill>
                    <a:srgbClr val="2A2A2A"/>
                  </a:solidFill>
                  <a:latin typeface="Work Sans"/>
                  <a:ea typeface="Work Sans"/>
                  <a:cs typeface="Work Sans"/>
                  <a:sym typeface="Work Sans"/>
                </a:rPr>
                <a:t>Pilot launch in selected regions</a:t>
              </a:r>
            </a:p>
          </p:txBody>
        </p:sp>
      </p:grpSp>
      <p:sp>
        <p:nvSpPr>
          <p:cNvPr name="AutoShape 20" id="20"/>
          <p:cNvSpPr/>
          <p:nvPr/>
        </p:nvSpPr>
        <p:spPr>
          <a:xfrm>
            <a:off x="2515146" y="5146318"/>
            <a:ext cx="15106104" cy="0"/>
          </a:xfrm>
          <a:prstGeom prst="line">
            <a:avLst/>
          </a:prstGeom>
          <a:ln cap="flat" w="38100">
            <a:solidFill>
              <a:srgbClr val="2A2A2A"/>
            </a:solidFill>
            <a:prstDash val="solid"/>
            <a:headEnd type="none" len="sm" w="sm"/>
            <a:tailEnd type="none" len="sm" w="sm"/>
          </a:ln>
        </p:spPr>
      </p:sp>
      <p:grpSp>
        <p:nvGrpSpPr>
          <p:cNvPr name="Group 21" id="21"/>
          <p:cNvGrpSpPr/>
          <p:nvPr/>
        </p:nvGrpSpPr>
        <p:grpSpPr>
          <a:xfrm rot="0">
            <a:off x="5940425" y="4984393"/>
            <a:ext cx="323850" cy="323850"/>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2A2A"/>
            </a:solidFill>
          </p:spPr>
        </p:sp>
      </p:grpSp>
      <p:grpSp>
        <p:nvGrpSpPr>
          <p:cNvPr name="Group 23" id="23"/>
          <p:cNvGrpSpPr/>
          <p:nvPr/>
        </p:nvGrpSpPr>
        <p:grpSpPr>
          <a:xfrm rot="0">
            <a:off x="9775825" y="4984393"/>
            <a:ext cx="323850" cy="323850"/>
            <a:chOff x="0" y="0"/>
            <a:chExt cx="6350000" cy="6350000"/>
          </a:xfrm>
        </p:grpSpPr>
        <p:sp>
          <p:nvSpPr>
            <p:cNvPr name="Freeform 24" id="2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2A2A"/>
            </a:solidFill>
          </p:spPr>
        </p:sp>
      </p:grpSp>
      <p:grpSp>
        <p:nvGrpSpPr>
          <p:cNvPr name="Group 25" id="25"/>
          <p:cNvGrpSpPr/>
          <p:nvPr/>
        </p:nvGrpSpPr>
        <p:grpSpPr>
          <a:xfrm rot="0">
            <a:off x="13611225" y="4984393"/>
            <a:ext cx="323850" cy="323850"/>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2A2A"/>
            </a:solidFill>
          </p:spPr>
        </p:sp>
      </p:grpSp>
      <p:grpSp>
        <p:nvGrpSpPr>
          <p:cNvPr name="Group 27" id="27"/>
          <p:cNvGrpSpPr/>
          <p:nvPr/>
        </p:nvGrpSpPr>
        <p:grpSpPr>
          <a:xfrm rot="0">
            <a:off x="2105025" y="4984393"/>
            <a:ext cx="323850" cy="323850"/>
            <a:chOff x="0" y="0"/>
            <a:chExt cx="6350000" cy="6350000"/>
          </a:xfrm>
        </p:grpSpPr>
        <p:sp>
          <p:nvSpPr>
            <p:cNvPr name="Freeform 28" id="2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2A2A"/>
            </a:solidFill>
          </p:spPr>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close/>
                </a:path>
              </a:pathLst>
            </a:custGeom>
            <a:solidFill>
              <a:srgbClr val="A6CEE3"/>
            </a:solidFill>
          </p:spPr>
        </p:sp>
      </p:grpSp>
      <p:grpSp>
        <p:nvGrpSpPr>
          <p:cNvPr name="Group 4" id="4"/>
          <p:cNvGrpSpPr/>
          <p:nvPr/>
        </p:nvGrpSpPr>
        <p:grpSpPr>
          <a:xfrm rot="0">
            <a:off x="2105025" y="1562100"/>
            <a:ext cx="12639675" cy="1787927"/>
            <a:chOff x="0" y="0"/>
            <a:chExt cx="16852900" cy="2383903"/>
          </a:xfrm>
        </p:grpSpPr>
        <p:sp>
          <p:nvSpPr>
            <p:cNvPr name="TextBox 5" id="5"/>
            <p:cNvSpPr txBox="true"/>
            <p:nvPr/>
          </p:nvSpPr>
          <p:spPr>
            <a:xfrm rot="0">
              <a:off x="0" y="133350"/>
              <a:ext cx="168529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2A2A2A"/>
                  </a:solidFill>
                  <a:latin typeface="Work Sans Semi-Bold"/>
                  <a:ea typeface="Work Sans Semi-Bold"/>
                  <a:cs typeface="Work Sans Semi-Bold"/>
                  <a:sym typeface="Work Sans Semi-Bold"/>
                </a:rPr>
                <a:t>Business Model</a:t>
              </a:r>
            </a:p>
          </p:txBody>
        </p:sp>
        <p:sp>
          <p:nvSpPr>
            <p:cNvPr name="TextBox 6" id="6"/>
            <p:cNvSpPr txBox="true"/>
            <p:nvPr/>
          </p:nvSpPr>
          <p:spPr>
            <a:xfrm rot="0">
              <a:off x="0" y="1755253"/>
              <a:ext cx="16852900" cy="628650"/>
            </a:xfrm>
            <a:prstGeom prst="rect">
              <a:avLst/>
            </a:prstGeom>
          </p:spPr>
          <p:txBody>
            <a:bodyPr anchor="t" rtlCol="false" tIns="0" lIns="0" bIns="0" rIns="0">
              <a:spAutoFit/>
            </a:bodyPr>
            <a:lstStyle/>
            <a:p>
              <a:pPr algn="l" marL="0" indent="0" lvl="0">
                <a:lnSpc>
                  <a:spcPts val="3600"/>
                </a:lnSpc>
                <a:spcBef>
                  <a:spcPct val="0"/>
                </a:spcBef>
              </a:pPr>
              <a:r>
                <a:rPr lang="en-US" b="true" sz="3000" spc="-165" strike="noStrike" u="none">
                  <a:solidFill>
                    <a:srgbClr val="606060"/>
                  </a:solidFill>
                  <a:latin typeface="Work Sans Semi-Bold"/>
                  <a:ea typeface="Work Sans Semi-Bold"/>
                  <a:cs typeface="Work Sans Semi-Bold"/>
                  <a:sym typeface="Work Sans Semi-Bold"/>
                </a:rPr>
                <a:t>Sustainable Revenue Streams for Growth</a:t>
              </a:r>
            </a:p>
          </p:txBody>
        </p:sp>
      </p:grpSp>
      <p:grpSp>
        <p:nvGrpSpPr>
          <p:cNvPr name="Group 7" id="7"/>
          <p:cNvGrpSpPr/>
          <p:nvPr/>
        </p:nvGrpSpPr>
        <p:grpSpPr>
          <a:xfrm rot="0">
            <a:off x="2105025" y="4248150"/>
            <a:ext cx="5448300" cy="2926080"/>
            <a:chOff x="0" y="0"/>
            <a:chExt cx="7264400" cy="3901440"/>
          </a:xfrm>
        </p:grpSpPr>
        <p:sp>
          <p:nvSpPr>
            <p:cNvPr name="TextBox 8" id="8"/>
            <p:cNvSpPr txBox="true"/>
            <p:nvPr/>
          </p:nvSpPr>
          <p:spPr>
            <a:xfrm rot="0">
              <a:off x="0" y="-19050"/>
              <a:ext cx="7264400" cy="628650"/>
            </a:xfrm>
            <a:prstGeom prst="rect">
              <a:avLst/>
            </a:prstGeom>
          </p:spPr>
          <p:txBody>
            <a:bodyPr anchor="t" rtlCol="false" tIns="0" lIns="0" bIns="0" rIns="0">
              <a:spAutoFit/>
            </a:bodyPr>
            <a:lstStyle/>
            <a:p>
              <a:pPr algn="l" marL="0" indent="0" lvl="0">
                <a:lnSpc>
                  <a:spcPts val="3600"/>
                </a:lnSpc>
                <a:spcBef>
                  <a:spcPct val="0"/>
                </a:spcBef>
              </a:pPr>
              <a:r>
                <a:rPr lang="en-US" b="true" sz="3000" spc="-165">
                  <a:solidFill>
                    <a:srgbClr val="606060"/>
                  </a:solidFill>
                  <a:latin typeface="Work Sans Semi-Bold"/>
                  <a:ea typeface="Work Sans Semi-Bold"/>
                  <a:cs typeface="Work Sans Semi-Bold"/>
                  <a:sym typeface="Work Sans Semi-Bold"/>
                </a:rPr>
                <a:t>Freemium Model</a:t>
              </a:r>
            </a:p>
          </p:txBody>
        </p:sp>
        <p:sp>
          <p:nvSpPr>
            <p:cNvPr name="TextBox 9" id="9"/>
            <p:cNvSpPr txBox="true"/>
            <p:nvPr/>
          </p:nvSpPr>
          <p:spPr>
            <a:xfrm rot="0">
              <a:off x="0" y="1165225"/>
              <a:ext cx="7264400" cy="2736215"/>
            </a:xfrm>
            <a:prstGeom prst="rect">
              <a:avLst/>
            </a:prstGeom>
          </p:spPr>
          <p:txBody>
            <a:bodyPr anchor="t" rtlCol="false" tIns="0" lIns="0" bIns="0" rIns="0">
              <a:spAutoFit/>
            </a:bodyPr>
            <a:lstStyle/>
            <a:p>
              <a:pPr algn="l" marL="0" indent="0" lvl="0">
                <a:lnSpc>
                  <a:spcPts val="2730"/>
                </a:lnSpc>
              </a:pPr>
              <a:r>
                <a:rPr lang="en-US" sz="2100" spc="-115" strike="noStrike" u="none">
                  <a:solidFill>
                    <a:srgbClr val="2A2A2A"/>
                  </a:solidFill>
                  <a:latin typeface="Work Sans"/>
                  <a:ea typeface="Work Sans"/>
                  <a:cs typeface="Work Sans"/>
                  <a:sym typeface="Work Sans"/>
                </a:rPr>
                <a:t>The freemium model provides users with essential features at no cost, encouraging mass adoption. This approach allows individuals to experience the benefits of the AI assistant before choosing to upgrade for advanced functionalities.</a:t>
              </a:r>
            </a:p>
          </p:txBody>
        </p:sp>
      </p:grpSp>
      <p:grpSp>
        <p:nvGrpSpPr>
          <p:cNvPr name="Group 10" id="10"/>
          <p:cNvGrpSpPr/>
          <p:nvPr/>
        </p:nvGrpSpPr>
        <p:grpSpPr>
          <a:xfrm rot="0">
            <a:off x="7858125" y="4248150"/>
            <a:ext cx="5448300" cy="2926080"/>
            <a:chOff x="0" y="0"/>
            <a:chExt cx="7264400" cy="3901440"/>
          </a:xfrm>
        </p:grpSpPr>
        <p:sp>
          <p:nvSpPr>
            <p:cNvPr name="TextBox 11" id="11"/>
            <p:cNvSpPr txBox="true"/>
            <p:nvPr/>
          </p:nvSpPr>
          <p:spPr>
            <a:xfrm rot="0">
              <a:off x="0" y="-19050"/>
              <a:ext cx="7264400" cy="628650"/>
            </a:xfrm>
            <a:prstGeom prst="rect">
              <a:avLst/>
            </a:prstGeom>
          </p:spPr>
          <p:txBody>
            <a:bodyPr anchor="t" rtlCol="false" tIns="0" lIns="0" bIns="0" rIns="0">
              <a:spAutoFit/>
            </a:bodyPr>
            <a:lstStyle/>
            <a:p>
              <a:pPr algn="l" marL="0" indent="0" lvl="0">
                <a:lnSpc>
                  <a:spcPts val="3600"/>
                </a:lnSpc>
                <a:spcBef>
                  <a:spcPct val="0"/>
                </a:spcBef>
              </a:pPr>
              <a:r>
                <a:rPr lang="en-US" b="true" sz="3000" spc="-165">
                  <a:solidFill>
                    <a:srgbClr val="606060"/>
                  </a:solidFill>
                  <a:latin typeface="Work Sans Semi-Bold"/>
                  <a:ea typeface="Work Sans Semi-Bold"/>
                  <a:cs typeface="Work Sans Semi-Bold"/>
                  <a:sym typeface="Work Sans Semi-Bold"/>
                </a:rPr>
                <a:t>Subscription Tiers</a:t>
              </a:r>
            </a:p>
          </p:txBody>
        </p:sp>
        <p:sp>
          <p:nvSpPr>
            <p:cNvPr name="TextBox 12" id="12"/>
            <p:cNvSpPr txBox="true"/>
            <p:nvPr/>
          </p:nvSpPr>
          <p:spPr>
            <a:xfrm rot="0">
              <a:off x="0" y="1165225"/>
              <a:ext cx="7264400" cy="2736215"/>
            </a:xfrm>
            <a:prstGeom prst="rect">
              <a:avLst/>
            </a:prstGeom>
          </p:spPr>
          <p:txBody>
            <a:bodyPr anchor="t" rtlCol="false" tIns="0" lIns="0" bIns="0" rIns="0">
              <a:spAutoFit/>
            </a:bodyPr>
            <a:lstStyle/>
            <a:p>
              <a:pPr algn="l" marL="0" indent="0" lvl="0">
                <a:lnSpc>
                  <a:spcPts val="2730"/>
                </a:lnSpc>
              </a:pPr>
              <a:r>
                <a:rPr lang="en-US" sz="2100" spc="-115" strike="noStrike" u="none">
                  <a:solidFill>
                    <a:srgbClr val="2A2A2A"/>
                  </a:solidFill>
                  <a:latin typeface="Work Sans"/>
                  <a:ea typeface="Work Sans"/>
                  <a:cs typeface="Work Sans"/>
                  <a:sym typeface="Work Sans"/>
                </a:rPr>
                <a:t>Subscription tiers will cater to small businesses seeking various levels of AI capabilities. Tailored packages will ensure affordability while providing access to advanced features that enhance operational efficiency and decision-making processes.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686050"/>
            <a:chOff x="0" y="0"/>
            <a:chExt cx="4987154" cy="790100"/>
          </a:xfrm>
        </p:grpSpPr>
        <p:sp>
          <p:nvSpPr>
            <p:cNvPr name="Freeform 3" id="3"/>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606060"/>
            </a:solidFill>
          </p:spPr>
        </p:sp>
      </p:grpSp>
      <p:grpSp>
        <p:nvGrpSpPr>
          <p:cNvPr name="Group 4" id="4"/>
          <p:cNvGrpSpPr/>
          <p:nvPr/>
        </p:nvGrpSpPr>
        <p:grpSpPr>
          <a:xfrm rot="0">
            <a:off x="666750" y="3657600"/>
            <a:ext cx="8324850" cy="5962650"/>
            <a:chOff x="0" y="0"/>
            <a:chExt cx="1289737" cy="923771"/>
          </a:xfrm>
        </p:grpSpPr>
        <p:sp>
          <p:nvSpPr>
            <p:cNvPr name="Freeform 5" id="5"/>
            <p:cNvSpPr/>
            <p:nvPr/>
          </p:nvSpPr>
          <p:spPr>
            <a:xfrm flipH="false" flipV="false" rot="0">
              <a:off x="0" y="0"/>
              <a:ext cx="1289737" cy="923771"/>
            </a:xfrm>
            <a:custGeom>
              <a:avLst/>
              <a:gdLst/>
              <a:ahLst/>
              <a:cxnLst/>
              <a:rect r="r" b="b" t="t" l="l"/>
              <a:pathLst>
                <a:path h="923771" w="1289737">
                  <a:moveTo>
                    <a:pt x="37199" y="0"/>
                  </a:moveTo>
                  <a:lnTo>
                    <a:pt x="1252538" y="0"/>
                  </a:lnTo>
                  <a:cubicBezTo>
                    <a:pt x="1262404" y="0"/>
                    <a:pt x="1271866" y="3919"/>
                    <a:pt x="1278842" y="10895"/>
                  </a:cubicBezTo>
                  <a:cubicBezTo>
                    <a:pt x="1285818" y="17872"/>
                    <a:pt x="1289737" y="27333"/>
                    <a:pt x="1289737" y="37199"/>
                  </a:cubicBezTo>
                  <a:lnTo>
                    <a:pt x="1289737" y="886571"/>
                  </a:lnTo>
                  <a:cubicBezTo>
                    <a:pt x="1289737" y="896437"/>
                    <a:pt x="1285818" y="905899"/>
                    <a:pt x="1278842" y="912875"/>
                  </a:cubicBezTo>
                  <a:cubicBezTo>
                    <a:pt x="1271866" y="919851"/>
                    <a:pt x="1262404" y="923771"/>
                    <a:pt x="1252538" y="923771"/>
                  </a:cubicBezTo>
                  <a:lnTo>
                    <a:pt x="37199" y="923771"/>
                  </a:lnTo>
                  <a:cubicBezTo>
                    <a:pt x="27333" y="923771"/>
                    <a:pt x="17872" y="919851"/>
                    <a:pt x="10895" y="912875"/>
                  </a:cubicBezTo>
                  <a:cubicBezTo>
                    <a:pt x="3919" y="905899"/>
                    <a:pt x="0" y="896437"/>
                    <a:pt x="0" y="886571"/>
                  </a:cubicBezTo>
                  <a:lnTo>
                    <a:pt x="0" y="37199"/>
                  </a:lnTo>
                  <a:cubicBezTo>
                    <a:pt x="0" y="27333"/>
                    <a:pt x="3919" y="17872"/>
                    <a:pt x="10895" y="10895"/>
                  </a:cubicBezTo>
                  <a:cubicBezTo>
                    <a:pt x="17872" y="3919"/>
                    <a:pt x="27333" y="0"/>
                    <a:pt x="37199" y="0"/>
                  </a:cubicBezTo>
                  <a:close/>
                </a:path>
              </a:pathLst>
            </a:custGeom>
            <a:blipFill>
              <a:blip r:embed="rId2"/>
              <a:stretch>
                <a:fillRect l="-174" t="0" r="-174" b="0"/>
              </a:stretch>
            </a:blipFill>
          </p:spPr>
        </p:sp>
      </p:grpSp>
      <p:sp>
        <p:nvSpPr>
          <p:cNvPr name="TextBox 6" id="6"/>
          <p:cNvSpPr txBox="true"/>
          <p:nvPr/>
        </p:nvSpPr>
        <p:spPr>
          <a:xfrm rot="0">
            <a:off x="1320434" y="1570221"/>
            <a:ext cx="13424266" cy="1035051"/>
          </a:xfrm>
          <a:prstGeom prst="rect">
            <a:avLst/>
          </a:prstGeom>
        </p:spPr>
        <p:txBody>
          <a:bodyPr anchor="t" rtlCol="false" tIns="0" lIns="0" bIns="0" rIns="0">
            <a:spAutoFit/>
          </a:bodyPr>
          <a:lstStyle/>
          <a:p>
            <a:pPr algn="l" marL="0" indent="0" lvl="0">
              <a:lnSpc>
                <a:spcPts val="7600"/>
              </a:lnSpc>
            </a:pPr>
            <a:r>
              <a:rPr lang="en-US" b="true" sz="8000" spc="-440">
                <a:solidFill>
                  <a:srgbClr val="2A2A2A"/>
                </a:solidFill>
                <a:latin typeface="Work Sans Semi-Bold"/>
                <a:ea typeface="Work Sans Semi-Bold"/>
                <a:cs typeface="Work Sans Semi-Bold"/>
                <a:sym typeface="Work Sans Semi-Bold"/>
              </a:rPr>
              <a:t>Contact Us</a:t>
            </a:r>
          </a:p>
        </p:txBody>
      </p:sp>
      <p:grpSp>
        <p:nvGrpSpPr>
          <p:cNvPr name="Group 7" id="7"/>
          <p:cNvGrpSpPr/>
          <p:nvPr/>
        </p:nvGrpSpPr>
        <p:grpSpPr>
          <a:xfrm rot="0">
            <a:off x="9296400" y="3657600"/>
            <a:ext cx="8324850" cy="5962650"/>
            <a:chOff x="0" y="0"/>
            <a:chExt cx="2192553" cy="1570410"/>
          </a:xfrm>
        </p:grpSpPr>
        <p:sp>
          <p:nvSpPr>
            <p:cNvPr name="Freeform 8" id="8"/>
            <p:cNvSpPr/>
            <p:nvPr/>
          </p:nvSpPr>
          <p:spPr>
            <a:xfrm flipH="false" flipV="false" rot="0">
              <a:off x="0" y="0"/>
              <a:ext cx="2192553" cy="1570410"/>
            </a:xfrm>
            <a:custGeom>
              <a:avLst/>
              <a:gdLst/>
              <a:ahLst/>
              <a:cxnLst/>
              <a:rect r="r" b="b" t="t" l="l"/>
              <a:pathLst>
                <a:path h="1570410" w="2192553">
                  <a:moveTo>
                    <a:pt x="37199" y="0"/>
                  </a:moveTo>
                  <a:lnTo>
                    <a:pt x="2155354" y="0"/>
                  </a:lnTo>
                  <a:cubicBezTo>
                    <a:pt x="2165220" y="0"/>
                    <a:pt x="2174682" y="3919"/>
                    <a:pt x="2181658" y="10895"/>
                  </a:cubicBezTo>
                  <a:cubicBezTo>
                    <a:pt x="2188634" y="17872"/>
                    <a:pt x="2192553" y="27333"/>
                    <a:pt x="2192553" y="37199"/>
                  </a:cubicBezTo>
                  <a:lnTo>
                    <a:pt x="2192553" y="1533211"/>
                  </a:lnTo>
                  <a:cubicBezTo>
                    <a:pt x="2192553" y="1543077"/>
                    <a:pt x="2188634" y="1552538"/>
                    <a:pt x="2181658" y="1559514"/>
                  </a:cubicBezTo>
                  <a:cubicBezTo>
                    <a:pt x="2174682" y="1566491"/>
                    <a:pt x="2165220" y="1570410"/>
                    <a:pt x="2155354" y="1570410"/>
                  </a:cubicBezTo>
                  <a:lnTo>
                    <a:pt x="37199" y="1570410"/>
                  </a:lnTo>
                  <a:cubicBezTo>
                    <a:pt x="27333" y="1570410"/>
                    <a:pt x="17872" y="1566491"/>
                    <a:pt x="10895" y="1559514"/>
                  </a:cubicBezTo>
                  <a:cubicBezTo>
                    <a:pt x="3919" y="1552538"/>
                    <a:pt x="0" y="1543077"/>
                    <a:pt x="0" y="1533211"/>
                  </a:cubicBezTo>
                  <a:lnTo>
                    <a:pt x="0" y="37199"/>
                  </a:lnTo>
                  <a:cubicBezTo>
                    <a:pt x="0" y="27333"/>
                    <a:pt x="3919" y="17872"/>
                    <a:pt x="10895" y="10895"/>
                  </a:cubicBezTo>
                  <a:cubicBezTo>
                    <a:pt x="17872" y="3919"/>
                    <a:pt x="27333" y="0"/>
                    <a:pt x="37199" y="0"/>
                  </a:cubicBezTo>
                  <a:close/>
                </a:path>
              </a:pathLst>
            </a:custGeom>
            <a:solidFill>
              <a:srgbClr val="A6CEE3"/>
            </a:solidFill>
          </p:spPr>
        </p:sp>
        <p:sp>
          <p:nvSpPr>
            <p:cNvPr name="TextBox 9" id="9"/>
            <p:cNvSpPr txBox="true"/>
            <p:nvPr/>
          </p:nvSpPr>
          <p:spPr>
            <a:xfrm>
              <a:off x="0" y="-57150"/>
              <a:ext cx="2192553" cy="1627560"/>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0">
            <a:off x="10734675" y="4248150"/>
            <a:ext cx="5448300" cy="855345"/>
            <a:chOff x="0" y="0"/>
            <a:chExt cx="7264400" cy="1140460"/>
          </a:xfrm>
        </p:grpSpPr>
        <p:sp>
          <p:nvSpPr>
            <p:cNvPr name="TextBox 11" id="11"/>
            <p:cNvSpPr txBox="true"/>
            <p:nvPr/>
          </p:nvSpPr>
          <p:spPr>
            <a:xfrm rot="0">
              <a:off x="0" y="-19050"/>
              <a:ext cx="7264400" cy="628650"/>
            </a:xfrm>
            <a:prstGeom prst="rect">
              <a:avLst/>
            </a:prstGeom>
          </p:spPr>
          <p:txBody>
            <a:bodyPr anchor="t" rtlCol="false" tIns="0" lIns="0" bIns="0" rIns="0">
              <a:spAutoFit/>
            </a:bodyPr>
            <a:lstStyle/>
            <a:p>
              <a:pPr algn="l" marL="0" indent="0" lvl="0">
                <a:lnSpc>
                  <a:spcPts val="3600"/>
                </a:lnSpc>
                <a:spcBef>
                  <a:spcPct val="0"/>
                </a:spcBef>
              </a:pPr>
              <a:r>
                <a:rPr lang="en-US" b="true" sz="3000" spc="-165" strike="noStrike" u="none">
                  <a:solidFill>
                    <a:srgbClr val="606060"/>
                  </a:solidFill>
                  <a:latin typeface="Work Sans Semi-Bold"/>
                  <a:ea typeface="Work Sans Semi-Bold"/>
                  <a:cs typeface="Work Sans Semi-Bold"/>
                  <a:sym typeface="Work Sans Semi-Bold"/>
                </a:rPr>
                <a:t>Email</a:t>
              </a:r>
            </a:p>
          </p:txBody>
        </p:sp>
        <p:sp>
          <p:nvSpPr>
            <p:cNvPr name="TextBox 12" id="12"/>
            <p:cNvSpPr txBox="true"/>
            <p:nvPr/>
          </p:nvSpPr>
          <p:spPr>
            <a:xfrm rot="0">
              <a:off x="0" y="668655"/>
              <a:ext cx="7264400" cy="471805"/>
            </a:xfrm>
            <a:prstGeom prst="rect">
              <a:avLst/>
            </a:prstGeom>
          </p:spPr>
          <p:txBody>
            <a:bodyPr anchor="t" rtlCol="false" tIns="0" lIns="0" bIns="0" rIns="0">
              <a:spAutoFit/>
            </a:bodyPr>
            <a:lstStyle/>
            <a:p>
              <a:pPr algn="l" marL="0" indent="0" lvl="0">
                <a:lnSpc>
                  <a:spcPts val="2940"/>
                </a:lnSpc>
                <a:spcBef>
                  <a:spcPct val="0"/>
                </a:spcBef>
              </a:pPr>
              <a:r>
                <a:rPr lang="en-US" sz="2100" spc="-115" strike="noStrike" u="none">
                  <a:solidFill>
                    <a:srgbClr val="2A2A2A"/>
                  </a:solidFill>
                  <a:latin typeface="Work Sans"/>
                  <a:ea typeface="Work Sans"/>
                  <a:cs typeface="Work Sans"/>
                  <a:sym typeface="Work Sans"/>
                </a:rPr>
                <a:t>hello@reallygreatsite.com</a:t>
              </a:r>
            </a:p>
          </p:txBody>
        </p:sp>
      </p:grpSp>
      <p:grpSp>
        <p:nvGrpSpPr>
          <p:cNvPr name="Group 13" id="13"/>
          <p:cNvGrpSpPr/>
          <p:nvPr/>
        </p:nvGrpSpPr>
        <p:grpSpPr>
          <a:xfrm rot="0">
            <a:off x="10734675" y="6038952"/>
            <a:ext cx="5448300" cy="855345"/>
            <a:chOff x="0" y="0"/>
            <a:chExt cx="7264400" cy="1140460"/>
          </a:xfrm>
        </p:grpSpPr>
        <p:sp>
          <p:nvSpPr>
            <p:cNvPr name="TextBox 14" id="14"/>
            <p:cNvSpPr txBox="true"/>
            <p:nvPr/>
          </p:nvSpPr>
          <p:spPr>
            <a:xfrm rot="0">
              <a:off x="0" y="-19050"/>
              <a:ext cx="7264400" cy="628650"/>
            </a:xfrm>
            <a:prstGeom prst="rect">
              <a:avLst/>
            </a:prstGeom>
          </p:spPr>
          <p:txBody>
            <a:bodyPr anchor="t" rtlCol="false" tIns="0" lIns="0" bIns="0" rIns="0">
              <a:spAutoFit/>
            </a:bodyPr>
            <a:lstStyle/>
            <a:p>
              <a:pPr algn="l" marL="0" indent="0" lvl="0">
                <a:lnSpc>
                  <a:spcPts val="3600"/>
                </a:lnSpc>
                <a:spcBef>
                  <a:spcPct val="0"/>
                </a:spcBef>
              </a:pPr>
              <a:r>
                <a:rPr lang="en-US" b="true" sz="3000" spc="-165" strike="noStrike" u="none">
                  <a:solidFill>
                    <a:srgbClr val="606060"/>
                  </a:solidFill>
                  <a:latin typeface="Work Sans Semi-Bold"/>
                  <a:ea typeface="Work Sans Semi-Bold"/>
                  <a:cs typeface="Work Sans Semi-Bold"/>
                  <a:sym typeface="Work Sans Semi-Bold"/>
                </a:rPr>
                <a:t>Social Media</a:t>
              </a:r>
            </a:p>
          </p:txBody>
        </p:sp>
        <p:sp>
          <p:nvSpPr>
            <p:cNvPr name="TextBox 15" id="15"/>
            <p:cNvSpPr txBox="true"/>
            <p:nvPr/>
          </p:nvSpPr>
          <p:spPr>
            <a:xfrm rot="0">
              <a:off x="0" y="668655"/>
              <a:ext cx="7264400" cy="471805"/>
            </a:xfrm>
            <a:prstGeom prst="rect">
              <a:avLst/>
            </a:prstGeom>
          </p:spPr>
          <p:txBody>
            <a:bodyPr anchor="t" rtlCol="false" tIns="0" lIns="0" bIns="0" rIns="0">
              <a:spAutoFit/>
            </a:bodyPr>
            <a:lstStyle/>
            <a:p>
              <a:pPr algn="l" marL="0" indent="0" lvl="0">
                <a:lnSpc>
                  <a:spcPts val="2940"/>
                </a:lnSpc>
                <a:spcBef>
                  <a:spcPct val="0"/>
                </a:spcBef>
              </a:pPr>
              <a:r>
                <a:rPr lang="en-US" sz="2100" spc="-115" strike="noStrike" u="none">
                  <a:solidFill>
                    <a:srgbClr val="2A2A2A"/>
                  </a:solidFill>
                  <a:latin typeface="Work Sans"/>
                  <a:ea typeface="Work Sans"/>
                  <a:cs typeface="Work Sans"/>
                  <a:sym typeface="Work Sans"/>
                </a:rPr>
                <a:t>@reallygreatsite.com</a:t>
              </a:r>
            </a:p>
          </p:txBody>
        </p:sp>
      </p:grpSp>
      <p:grpSp>
        <p:nvGrpSpPr>
          <p:cNvPr name="Group 16" id="16"/>
          <p:cNvGrpSpPr/>
          <p:nvPr/>
        </p:nvGrpSpPr>
        <p:grpSpPr>
          <a:xfrm rot="0">
            <a:off x="10734675" y="7829550"/>
            <a:ext cx="5448300" cy="838835"/>
            <a:chOff x="0" y="0"/>
            <a:chExt cx="7264400" cy="1118446"/>
          </a:xfrm>
        </p:grpSpPr>
        <p:sp>
          <p:nvSpPr>
            <p:cNvPr name="TextBox 17" id="17"/>
            <p:cNvSpPr txBox="true"/>
            <p:nvPr/>
          </p:nvSpPr>
          <p:spPr>
            <a:xfrm rot="0">
              <a:off x="0" y="-19050"/>
              <a:ext cx="7264400" cy="628650"/>
            </a:xfrm>
            <a:prstGeom prst="rect">
              <a:avLst/>
            </a:prstGeom>
          </p:spPr>
          <p:txBody>
            <a:bodyPr anchor="t" rtlCol="false" tIns="0" lIns="0" bIns="0" rIns="0">
              <a:spAutoFit/>
            </a:bodyPr>
            <a:lstStyle/>
            <a:p>
              <a:pPr algn="l" marL="0" indent="0" lvl="0">
                <a:lnSpc>
                  <a:spcPts val="3600"/>
                </a:lnSpc>
                <a:spcBef>
                  <a:spcPct val="0"/>
                </a:spcBef>
              </a:pPr>
              <a:r>
                <a:rPr lang="en-US" b="true" sz="3000" spc="-165">
                  <a:solidFill>
                    <a:srgbClr val="606060"/>
                  </a:solidFill>
                  <a:latin typeface="Work Sans Semi-Bold"/>
                  <a:ea typeface="Work Sans Semi-Bold"/>
                  <a:cs typeface="Work Sans Semi-Bold"/>
                  <a:sym typeface="Work Sans Semi-Bold"/>
                </a:rPr>
                <a:t>Phone</a:t>
              </a:r>
            </a:p>
          </p:txBody>
        </p:sp>
        <p:sp>
          <p:nvSpPr>
            <p:cNvPr name="TextBox 18" id="18"/>
            <p:cNvSpPr txBox="true"/>
            <p:nvPr/>
          </p:nvSpPr>
          <p:spPr>
            <a:xfrm rot="0">
              <a:off x="0" y="659130"/>
              <a:ext cx="7264400" cy="459316"/>
            </a:xfrm>
            <a:prstGeom prst="rect">
              <a:avLst/>
            </a:prstGeom>
          </p:spPr>
          <p:txBody>
            <a:bodyPr anchor="t" rtlCol="false" tIns="0" lIns="0" bIns="0" rIns="0">
              <a:spAutoFit/>
            </a:bodyPr>
            <a:lstStyle/>
            <a:p>
              <a:pPr algn="l" marL="0" indent="0" lvl="0">
                <a:lnSpc>
                  <a:spcPts val="2800"/>
                </a:lnSpc>
              </a:pPr>
              <a:r>
                <a:rPr lang="en-US" sz="2000" spc="-110">
                  <a:solidFill>
                    <a:srgbClr val="2A2A2A"/>
                  </a:solidFill>
                  <a:latin typeface="Work Sans"/>
                  <a:ea typeface="Work Sans"/>
                  <a:cs typeface="Work Sans"/>
                  <a:sym typeface="Work Sans"/>
                </a:rPr>
                <a:t>123-456-7890</a:t>
              </a:r>
            </a:p>
          </p:txBody>
        </p:sp>
      </p:grpSp>
      <p:sp>
        <p:nvSpPr>
          <p:cNvPr name="Freeform 19" id="19"/>
          <p:cNvSpPr/>
          <p:nvPr/>
        </p:nvSpPr>
        <p:spPr>
          <a:xfrm flipH="false" flipV="false" rot="0">
            <a:off x="9969341"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0" id="20"/>
          <p:cNvSpPr/>
          <p:nvPr/>
        </p:nvSpPr>
        <p:spPr>
          <a:xfrm flipH="false" flipV="false" rot="0">
            <a:off x="9969341" y="6038952"/>
            <a:ext cx="460534" cy="460534"/>
          </a:xfrm>
          <a:custGeom>
            <a:avLst/>
            <a:gdLst/>
            <a:ahLst/>
            <a:cxnLst/>
            <a:rect r="r" b="b" t="t" l="l"/>
            <a:pathLst>
              <a:path h="460534" w="460534">
                <a:moveTo>
                  <a:pt x="0" y="0"/>
                </a:moveTo>
                <a:lnTo>
                  <a:pt x="460534" y="0"/>
                </a:lnTo>
                <a:lnTo>
                  <a:pt x="460534" y="460535"/>
                </a:lnTo>
                <a:lnTo>
                  <a:pt x="0" y="4605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0">
            <a:off x="9969341" y="7829754"/>
            <a:ext cx="460534" cy="460534"/>
          </a:xfrm>
          <a:custGeom>
            <a:avLst/>
            <a:gdLst/>
            <a:ahLst/>
            <a:cxnLst/>
            <a:rect r="r" b="b" t="t" l="l"/>
            <a:pathLst>
              <a:path h="460534" w="460534">
                <a:moveTo>
                  <a:pt x="0" y="0"/>
                </a:moveTo>
                <a:lnTo>
                  <a:pt x="460534" y="0"/>
                </a:lnTo>
                <a:lnTo>
                  <a:pt x="460534" y="460535"/>
                </a:lnTo>
                <a:lnTo>
                  <a:pt x="0" y="4605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AI for Bharat</dc:description>
  <dc:identifier>DAHBNMt2Gz0</dc:identifier>
  <dcterms:modified xsi:type="dcterms:W3CDTF">2011-08-01T06:04:30Z</dcterms:modified>
  <cp:revision>1</cp:revision>
  <dc:title>Presentation - AI for Bharat</dc:title>
</cp:coreProperties>
</file>